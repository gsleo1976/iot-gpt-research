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1371600"/>
            <a:ext cx="7315200" cy="7315200"/>
          </a:xfrm>
          <a:prstGeom prst="ellipse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200400"/>
            <a:ext cx="4572000" cy="4572000"/>
          </a:xfrm>
          <a:prstGeom prst="ellipse">
            <a:avLst/>
          </a:prstGeom>
          <a:solidFill>
            <a:srgbClr val="0A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73152" cy="10058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IoT-GPT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8D8D8"/>
                </a:solidFill>
                <a:latin typeface="Calibri"/>
              </a:rPr>
              <a:t>Intelligent IoT Coordination for Sustainable Living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AAA"/>
                </a:solidFill>
                <a:latin typeface="Calibri"/>
              </a:rPr>
              <a:t>A Research Project on Smart Home Automation &amp; Calm Technology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480560"/>
            <a:ext cx="320040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663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AAA"/>
                </a:solidFill>
                <a:latin typeface="Calibri"/>
              </a:rPr>
              <a:t>Gurdev Singh  •  gsleo1976  •  March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4A261"/>
                </a:solidFill>
                <a:latin typeface="Calibri"/>
              </a:rPr>
              <a:t>github.com/gsleo1976/iot-gpt-research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 We're Solving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Energy Waste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•  Room heater + water heater running simultaneously</a:t>
            </a:r>
          </a:p>
          <a:p>
            <a:pPr>
              <a:spcBef>
                <a:spcPts val="4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•  Both draw 3,500W — can trip the circuit breaker</a:t>
            </a:r>
          </a:p>
          <a:p>
            <a:pPr>
              <a:spcBef>
                <a:spcPts val="4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•  Peak hours (6–9am, 5–8pm) are 2x more expensive</a:t>
            </a:r>
          </a:p>
          <a:p>
            <a:pPr>
              <a:spcBef>
                <a:spcPts val="4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•  Average home wastes 20–30% energy on poor scheduling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3949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39496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Notification Overload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•  Smartphones buzz 80+ times per day on average</a:t>
            </a:r>
          </a:p>
          <a:p>
            <a:pPr>
              <a:spcBef>
                <a:spcPts val="4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•  Every alert pulls you out of focus</a:t>
            </a:r>
          </a:p>
          <a:p>
            <a:pPr>
              <a:spcBef>
                <a:spcPts val="4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•  Most smart home alerts are low-priority</a:t>
            </a:r>
          </a:p>
          <a:p>
            <a:pPr>
              <a:spcBef>
                <a:spcPts val="4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•  We need ambient, calm ways to stay informed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1">
                <a:solidFill>
                  <a:srgbClr val="1A6B6B"/>
                </a:solidFill>
                <a:latin typeface="Calibri"/>
              </a:rPr>
              <a:t>IoT-GPT solves both problems with intelligent coordination + calm technology.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666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is IoT-GPT?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8D8"/>
                </a:solidFill>
                <a:latin typeface="Calibri"/>
              </a:rPr>
              <a:t>A smart AI brain that understands every device in your home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228600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" cy="2286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A261"/>
                </a:solidFill>
                <a:latin typeface="Calibri"/>
              </a:rPr>
              <a:t>🧠  Device Expert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EEE"/>
                </a:solidFill>
                <a:latin typeface="Calibri"/>
              </a:rPr>
              <a:t>Knows every device's power, warmup time, and conflicts. Never runs the room heater and water heater at the same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486400" cy="228600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864" cy="2286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9844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A261"/>
                </a:solidFill>
                <a:latin typeface="Calibri"/>
              </a:rPr>
              <a:t>📅  Smart Scheduler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EEE"/>
                </a:solidFill>
                <a:latin typeface="Calibri"/>
              </a:rPr>
              <a:t>Plans your morning routine — water heats by 6:58am, room warms by 6:40am — all before you wake up at 7am.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49039"/>
            <a:ext cx="5486400" cy="228600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54864" cy="2286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587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A261"/>
                </a:solidFill>
                <a:latin typeface="Calibri"/>
              </a:rPr>
              <a:t>💡  Calm Notifier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EEE"/>
                </a:solidFill>
                <a:latin typeface="Calibri"/>
              </a:rPr>
              <a:t>A shoe-rack smart bulb glows soft blue if snow is forecast. No buzzing. No popup. Just a gentle glow.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749039"/>
            <a:ext cx="5486400" cy="228600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749039"/>
            <a:ext cx="54864" cy="2286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8587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A261"/>
                </a:solidFill>
                <a:latin typeface="Calibri"/>
              </a:rPr>
              <a:t>⚡  Energy Optimizer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8912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EEE"/>
                </a:solidFill>
                <a:latin typeface="Calibri"/>
              </a:rPr>
              <a:t>Shifts high-power devices to off-peak hours automatically. Target: 15–25% energy reduction.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7772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1. Physical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252728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EEE"/>
                </a:solidFill>
                <a:latin typeface="Calibri"/>
              </a:rPr>
              <a:t>DHT22 sensors  •  ZigBee smart bulbs  •  Smart heaters  •  Power 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7647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6B6B"/>
                </a:solidFill>
                <a:latin typeface="Calibri"/>
              </a:rP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93392"/>
            <a:ext cx="11247120" cy="777240"/>
          </a:xfrm>
          <a:prstGeom prst="rect">
            <a:avLst/>
          </a:prstGeom>
          <a:solidFill>
            <a:srgbClr val="1A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391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2. Protocol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0312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EEE"/>
                </a:solidFill>
                <a:latin typeface="Calibri"/>
              </a:rPr>
              <a:t>ZigBee (via Zigbee2MQTT)  +  MQTT Broker (Mosquitto)  on  Raspberry Pi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6151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6B6B"/>
                </a:solidFill>
                <a:latin typeface="Calibr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43784"/>
            <a:ext cx="11247120" cy="7772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8950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3. Intelligence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953512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EEE"/>
                </a:solidFill>
                <a:latin typeface="Calibri"/>
              </a:rPr>
              <a:t>Device Attribute Registry (DAR)  •  Coordination Engine (OR-Tools)  •  Mistral-7B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4655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6B6B"/>
                </a:solidFill>
                <a:latin typeface="Calibr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94176"/>
            <a:ext cx="11247120" cy="777240"/>
          </a:xfrm>
          <a:prstGeom prst="rect">
            <a:avLst/>
          </a:prstGeom>
          <a:solidFill>
            <a:srgbClr val="0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3989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4. Application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803904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EEE"/>
                </a:solidFill>
                <a:latin typeface="Calibri"/>
              </a:rPr>
              <a:t>Calm Notification Controller  •  Energy Optimizer  •  Scheduling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43159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6B6B"/>
                </a:solidFill>
                <a:latin typeface="Calibri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44568"/>
            <a:ext cx="11247120" cy="777240"/>
          </a:xfrm>
          <a:prstGeom prst="rect">
            <a:avLst/>
          </a:prstGeom>
          <a:solidFill>
            <a:srgbClr val="0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5902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5. Data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654296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EEE"/>
                </a:solidFill>
                <a:latin typeface="Calibri"/>
              </a:rPr>
              <a:t>InfluxDB (time-series storage)  •  Grafana (dashboards)  •  Node-RED (flows)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97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6B6B"/>
                </a:solidFill>
                <a:latin typeface="Calibri"/>
              </a:rPr>
              <a:t>All components run locally on Raspberry Pi 5  •  No cloud dependency  •  Privacy by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666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Device Attribute Registry (DAR)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A8D8D8"/>
                </a:solidFill>
                <a:latin typeface="Calibri"/>
              </a:rPr>
              <a:t>The knowledge base — IoT-GPT knows everything about every 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  <a:latin typeface="Calibri"/>
              </a:rPr>
              <a:t>Example: Water Heater Entry in DAR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486400" cy="2377440"/>
          </a:xfrm>
          <a:prstGeom prst="rect">
            <a:avLst/>
          </a:prstGeom>
          <a:solidFill>
            <a:srgbClr val="08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0FFC0"/>
                </a:solidFill>
                <a:latin typeface="Courier New"/>
              </a:rPr>
              <a:t>{ "device": "water_heater_01",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476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0FFC0"/>
                </a:solidFill>
                <a:latin typeface="Courier New"/>
              </a:rPr>
              <a:t>  "power_watts": 2000,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9514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0FFC0"/>
                </a:solidFill>
                <a:latin typeface="Courier New"/>
              </a:rPr>
              <a:t>  "warmup_minutes": 30,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4261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0FFC0"/>
                </a:solidFill>
                <a:latin typeface="Courier New"/>
              </a:rPr>
              <a:t>  "conflicts_with": ["room_heater"],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900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0FFC0"/>
                </a:solidFill>
                <a:latin typeface="Courier New"/>
              </a:rPr>
              <a:t>  "preferred_hours": [1, 2, 3, 4, 5],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0FFC0"/>
                </a:solidFill>
                <a:latin typeface="Courier New"/>
              </a:rPr>
              <a:t>  "avoid_peak_hours": true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  <a:latin typeface="Calibri"/>
              </a:rPr>
              <a:t>DAR Attribute Categories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554480"/>
            <a:ext cx="5029200" cy="713232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4A261"/>
                </a:solidFill>
                <a:latin typeface="Calibri"/>
              </a:rPr>
              <a:t>Physical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9019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EE"/>
                </a:solidFill>
                <a:latin typeface="Calibri"/>
              </a:rPr>
              <a:t>Power draw, voltage, warmup time, temperature range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377440"/>
            <a:ext cx="5029200" cy="713232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4A261"/>
                </a:solidFill>
                <a:latin typeface="Calibri"/>
              </a:rPr>
              <a:t>Behavioral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7249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EE"/>
                </a:solidFill>
                <a:latin typeface="Calibri"/>
              </a:rPr>
              <a:t>Interruptible? Max daily cycles? Run duration?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3200400"/>
            <a:ext cx="5029200" cy="713232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4A261"/>
                </a:solidFill>
                <a:latin typeface="Calibri"/>
              </a:rPr>
              <a:t>Relational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54787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EE"/>
                </a:solidFill>
                <a:latin typeface="Calibri"/>
              </a:rPr>
              <a:t>Conflicts with which devices? Preferred sequence?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023360"/>
            <a:ext cx="5029200" cy="713232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069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4A261"/>
                </a:solidFill>
                <a:latin typeface="Calibri"/>
              </a:rPr>
              <a:t>Temporal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37083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EE"/>
                </a:solidFill>
                <a:latin typeface="Calibri"/>
              </a:rPr>
              <a:t>Best hours to run, peak hours to avoid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4846320"/>
            <a:ext cx="5029200" cy="713232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4A261"/>
                </a:solidFill>
                <a:latin typeface="Calibri"/>
              </a:rPr>
              <a:t>Calm-Tech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19379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EE"/>
                </a:solidFill>
                <a:latin typeface="Calibri"/>
              </a:rPr>
              <a:t>Notification color, brightness level, conditions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Multi-Device Coordination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6B6B"/>
                </a:solidFill>
                <a:latin typeface="Calibri"/>
              </a:rPr>
              <a:t>Smart Morning Schedule (Wake at 7:00 AM)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3333"/>
                </a:solidFill>
                <a:latin typeface="Calibri"/>
              </a:rPr>
              <a:t>WITHOUT IoT-GPT (all devices ON at 7am — 3,500W surge!)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965960"/>
            <a:ext cx="2743200" cy="411480"/>
          </a:xfrm>
          <a:prstGeom prst="rect">
            <a:avLst/>
          </a:prstGeom>
          <a:solidFill>
            <a:srgbClr val="FF7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59" y="20116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Water Heater 2000W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965960"/>
            <a:ext cx="2286000" cy="411480"/>
          </a:xfrm>
          <a:prstGeom prst="rect">
            <a:avLst/>
          </a:prstGeom>
          <a:solidFill>
            <a:srgbClr val="FF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20116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Room Heater 1500W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2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7:00 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B6B"/>
                </a:solidFill>
                <a:latin typeface="Calibri"/>
              </a:rPr>
              <a:t>WITH IoT-GPT (staggered, off-peak, 30% savings!)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337560"/>
            <a:ext cx="2560320" cy="411480"/>
          </a:xfrm>
          <a:prstGeom prst="rect">
            <a:avLst/>
          </a:prstGeom>
          <a:solidFill>
            <a:srgbClr val="1A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1952" y="3383280"/>
            <a:ext cx="24505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Room Heater 1500W — 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337560"/>
            <a:ext cx="2560320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2" y="3383280"/>
            <a:ext cx="24505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Water Heater 2000W — 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3337560"/>
            <a:ext cx="1097280" cy="4114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3383280"/>
            <a:ext cx="987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Lights ON 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666"/>
                </a:solidFill>
                <a:latin typeface="Calibri"/>
              </a:rPr>
              <a:t>6:00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200400"/>
            <a:ext cx="18288" cy="731520"/>
          </a:xfrm>
          <a:prstGeom prst="rect">
            <a:avLst/>
          </a:prstGeom>
          <a:solidFill>
            <a:srgbClr val="55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3840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666"/>
                </a:solidFill>
                <a:latin typeface="Calibri"/>
              </a:rPr>
              <a:t>6:20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3200400"/>
            <a:ext cx="18288" cy="731520"/>
          </a:xfrm>
          <a:prstGeom prst="rect">
            <a:avLst/>
          </a:prstGeom>
          <a:solidFill>
            <a:srgbClr val="55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3840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666"/>
                </a:solidFill>
                <a:latin typeface="Calibri"/>
              </a:rPr>
              <a:t>6:30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3200400"/>
            <a:ext cx="18288" cy="731520"/>
          </a:xfrm>
          <a:prstGeom prst="rect">
            <a:avLst/>
          </a:prstGeom>
          <a:solidFill>
            <a:srgbClr val="55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3840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666"/>
                </a:solidFill>
                <a:latin typeface="Calibri"/>
              </a:rPr>
              <a:t>6:40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200400"/>
            <a:ext cx="18288" cy="731520"/>
          </a:xfrm>
          <a:prstGeom prst="rect">
            <a:avLst/>
          </a:prstGeom>
          <a:solidFill>
            <a:srgbClr val="55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3840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666"/>
                </a:solidFill>
                <a:latin typeface="Calibri"/>
              </a:rPr>
              <a:t>6:50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0" y="3200400"/>
            <a:ext cx="18288" cy="731520"/>
          </a:xfrm>
          <a:prstGeom prst="rect">
            <a:avLst/>
          </a:prstGeom>
          <a:solidFill>
            <a:srgbClr val="55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3840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666"/>
                </a:solidFill>
                <a:latin typeface="Calibri"/>
              </a:rPr>
              <a:t>7:00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200400"/>
            <a:ext cx="18288" cy="731520"/>
          </a:xfrm>
          <a:prstGeom prst="rect">
            <a:avLst/>
          </a:prstGeom>
          <a:solidFill>
            <a:srgbClr val="55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3840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666"/>
                </a:solidFill>
                <a:latin typeface="Calibri"/>
              </a:rPr>
              <a:t>7:05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200400"/>
            <a:ext cx="18288" cy="731520"/>
          </a:xfrm>
          <a:prstGeom prst="rect">
            <a:avLst/>
          </a:prstGeom>
          <a:solidFill>
            <a:srgbClr val="55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3840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666"/>
                </a:solidFill>
                <a:latin typeface="Calibri"/>
              </a:rPr>
              <a:t>7:10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200400"/>
            <a:ext cx="18288" cy="731520"/>
          </a:xfrm>
          <a:prstGeom prst="rect">
            <a:avLst/>
          </a:prstGeom>
          <a:solidFill>
            <a:srgbClr val="55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663440"/>
            <a:ext cx="3749039" cy="5943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7548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No simultaneous high-power devices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4663440"/>
            <a:ext cx="3749039" cy="5943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47548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Peak hours (6–9 AM) shifted away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4663440"/>
            <a:ext cx="3749039" cy="594360"/>
          </a:xfrm>
          <a:prstGeom prst="rect">
            <a:avLst/>
          </a:prstGeom>
          <a:solidFill>
            <a:srgbClr val="2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47548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15–25% energy cost reduction target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666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Calm Technology — Notifications Done Right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77724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CCEEEE"/>
                </a:solidFill>
                <a:latin typeface="Calibri"/>
              </a:rPr>
              <a:t>"The most potentially interesting, challenging, and profound change implied by the ubiquitous computing era is a focus on calm."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5564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4A261"/>
                </a:solidFill>
                <a:latin typeface="Calibri"/>
              </a:rPr>
              <a:t>— Weiser &amp; Brown, Designing Calm Technology (1995)</a:t>
            </a:r>
          </a:p>
        </p:txBody>
      </p:sp>
      <p:sp>
        <p:nvSpPr>
          <p:cNvPr id="7" name="Oval 6"/>
          <p:cNvSpPr/>
          <p:nvPr/>
        </p:nvSpPr>
        <p:spPr>
          <a:xfrm>
            <a:off x="1280160" y="2057400"/>
            <a:ext cx="685800" cy="685800"/>
          </a:xfrm>
          <a:prstGeom prst="ellipse">
            <a:avLst/>
          </a:prstGeom>
          <a:solidFill>
            <a:srgbClr val="309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A261"/>
                </a:solidFill>
                <a:latin typeface="Calibri"/>
              </a:rPr>
              <a:t>❄  Snow 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090CC"/>
                </a:solidFill>
                <a:latin typeface="Calibri"/>
              </a:rPr>
              <a:t>BLUE
Soft Glow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AACCCC"/>
                </a:solidFill>
                <a:latin typeface="Calibri"/>
              </a:rPr>
              <a:t>Wear snow boots!</a:t>
            </a:r>
          </a:p>
        </p:txBody>
      </p:sp>
      <p:sp>
        <p:nvSpPr>
          <p:cNvPr id="11" name="Oval 10"/>
          <p:cNvSpPr/>
          <p:nvPr/>
        </p:nvSpPr>
        <p:spPr>
          <a:xfrm>
            <a:off x="3611879" y="2057400"/>
            <a:ext cx="685800" cy="685800"/>
          </a:xfrm>
          <a:prstGeom prst="ellipse">
            <a:avLst/>
          </a:prstGeom>
          <a:solidFill>
            <a:srgbClr val="884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A261"/>
                </a:solidFill>
                <a:latin typeface="Calibri"/>
              </a:rPr>
              <a:t>🌫  Poor Air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3375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44AA"/>
                </a:solidFill>
                <a:latin typeface="Calibri"/>
              </a:rPr>
              <a:t>PURPLE
Pulse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9776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AACCCC"/>
                </a:solidFill>
                <a:latin typeface="Calibri"/>
              </a:rPr>
              <a:t>Keep windows closed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2057400"/>
            <a:ext cx="685800" cy="68580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A261"/>
                </a:solidFill>
                <a:latin typeface="Calibri"/>
              </a:rPr>
              <a:t>🔴  High CO₂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3375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3333"/>
                </a:solidFill>
                <a:latin typeface="Calibri"/>
              </a:rPr>
              <a:t>RED
Bright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9776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AACCCC"/>
                </a:solidFill>
                <a:latin typeface="Calibri"/>
              </a:rPr>
              <a:t>Open window now!</a:t>
            </a:r>
          </a:p>
        </p:txBody>
      </p:sp>
      <p:sp>
        <p:nvSpPr>
          <p:cNvPr id="19" name="Oval 18"/>
          <p:cNvSpPr/>
          <p:nvPr/>
        </p:nvSpPr>
        <p:spPr>
          <a:xfrm>
            <a:off x="8275319" y="2057400"/>
            <a:ext cx="685800" cy="685800"/>
          </a:xfrm>
          <a:prstGeom prst="ellipse">
            <a:avLst/>
          </a:prstGeom>
          <a:solidFill>
            <a:srgbClr val="DD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59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A261"/>
                </a:solidFill>
                <a:latin typeface="Calibri"/>
              </a:rPr>
              <a:t>⚡  Peak Hour Soon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59" y="33375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8822"/>
                </a:solidFill>
                <a:latin typeface="Calibri"/>
              </a:rPr>
              <a:t>AMBER
Slow Pulse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59" y="39776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AACCCC"/>
                </a:solidFill>
                <a:latin typeface="Calibri"/>
              </a:rPr>
              <a:t>Delay high-power use</a:t>
            </a:r>
          </a:p>
        </p:txBody>
      </p:sp>
      <p:sp>
        <p:nvSpPr>
          <p:cNvPr id="23" name="Oval 22"/>
          <p:cNvSpPr/>
          <p:nvPr/>
        </p:nvSpPr>
        <p:spPr>
          <a:xfrm>
            <a:off x="10607040" y="2057400"/>
            <a:ext cx="685800" cy="685800"/>
          </a:xfrm>
          <a:prstGeom prst="ellipse">
            <a:avLst/>
          </a:prstGeom>
          <a:solidFill>
            <a:srgbClr val="22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A261"/>
                </a:solidFill>
                <a:latin typeface="Calibri"/>
              </a:rPr>
              <a:t>✅  All Clear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3375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8855"/>
                </a:solidFill>
                <a:latin typeface="Calibri"/>
              </a:rPr>
              <a:t>OFF
(dark)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9776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AACCCC"/>
                </a:solidFill>
                <a:latin typeface="Calibri"/>
              </a:rPr>
              <a:t>No action needed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CCCC"/>
                </a:solidFill>
                <a:latin typeface="Calibri"/>
              </a:rPr>
              <a:t>The light works at the periphery of attention — you notice it without being interrupted.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440680"/>
            <a:ext cx="11247120" cy="68580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CC"/>
                </a:solidFill>
                <a:latin typeface="Calibri"/>
              </a:rPr>
              <a:t>Experiment 2 will measure: Push notification stress vs. ambient light — using NASA-TLX cognitive load 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Experimental Setup — Hardware &amp;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6B6B"/>
                </a:solidFill>
                <a:latin typeface="Calibri"/>
              </a:rPr>
              <a:t>Hardware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Raspberry Pi 5 (8GB) — IoT-GPT brain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SONOFF ZigBee 3.0 USB Dongle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2× DHT22 temperature / humidity sensors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Philips Hue or IKEA TRÅDFRI smart bulb (shoe rack)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Smart power meters on all heaters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CAT5e Ethernet to home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43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6B6B"/>
                </a:solidFill>
                <a:latin typeface="Calibri"/>
              </a:rPr>
              <a:t>Software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Mosquitto — MQTT message broker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Zigbee2MQTT — ZigBee device bridge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InfluxDB 2.x — time-series database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Grafana — real-time dashboards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Python 3.11 — all IoT-GPT logic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Mistral-7B (local) — LLM reasoning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Google OR-Tools — constraint scheduling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74920"/>
            <a:ext cx="11247120" cy="10515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Estimated Cost:  Hardware ≈ $150 CAD  |  Software: FREE (all open-source)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F4A261"/>
                </a:solidFill>
                <a:latin typeface="Calibri"/>
              </a:rPr>
              <a:t>All code available at  github.com/gsleo1976/iot-gpt-research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666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6 Research Experiments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749039" cy="219456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" y="1298448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3258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984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4A261"/>
                </a:solidFill>
                <a:latin typeface="Calibri"/>
              </a:rPr>
              <a:t>Energy Savings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EEE"/>
                </a:solidFill>
                <a:latin typeface="Calibri"/>
              </a:rPr>
              <a:t>Compare kWh with/without IoT-GPT. Target: 15–25% reduction.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749039" cy="219456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07408" y="1298448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3258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2984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4A261"/>
                </a:solidFill>
                <a:latin typeface="Calibri"/>
              </a:rPr>
              <a:t>Calm vs Push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84708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EEE"/>
                </a:solidFill>
                <a:latin typeface="Calibri"/>
              </a:rPr>
              <a:t>NASA-TLX cognitive load test. Ambient light vs. phone buzz.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749039" cy="219456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39327" y="1298448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3258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2984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4A261"/>
                </a:solidFill>
                <a:latin typeface="Calibri"/>
              </a:rPr>
              <a:t>IoT-GPT vs Manual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84708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EEE"/>
                </a:solidFill>
                <a:latin typeface="Calibri"/>
              </a:rPr>
              <a:t>User study: AI scheduling vs. manual control. Error rate &amp; comfort.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11880"/>
            <a:ext cx="3749039" cy="219456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5488" y="3721608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7490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216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4A261"/>
                </a:solidFill>
                <a:latin typeface="Calibri"/>
              </a:rPr>
              <a:t>Load Optimization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7024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EEE"/>
                </a:solidFill>
                <a:latin typeface="Calibri"/>
              </a:rPr>
              <a:t>Constraint satisfaction: schedule 5+ devices under 15A circuit limit.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611880"/>
            <a:ext cx="3749039" cy="219456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07408" y="3721608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37490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7216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4A261"/>
                </a:solidFill>
                <a:latin typeface="Calibri"/>
              </a:rPr>
              <a:t>Snow Alert Field Study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7024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EEE"/>
                </a:solidFill>
                <a:latin typeface="Calibri"/>
              </a:rPr>
              <a:t>Real-world shoe-rack bulb test over 30 days. Recall accuracy.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611880"/>
            <a:ext cx="3749039" cy="219456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39327" y="3721608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37490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7216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4A261"/>
                </a:solidFill>
                <a:latin typeface="Calibri"/>
              </a:rPr>
              <a:t>Scalability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27024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EEE"/>
                </a:solidFill>
                <a:latin typeface="Calibri"/>
              </a:rPr>
              <a:t>Scale from 3 to 15 devices. Measure response time &amp; accuracy.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Expected Results &amp;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2743200" cy="18288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4A261"/>
                </a:solidFill>
                <a:latin typeface="Calibri"/>
              </a:rPr>
              <a:t>15–25%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energy savings
per household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143000"/>
            <a:ext cx="2743200" cy="18288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234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4A261"/>
                </a:solidFill>
                <a:latin typeface="Calibri"/>
              </a:rP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lower cognitive
load from calm tech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43000"/>
            <a:ext cx="2743200" cy="18288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34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4A261"/>
                </a:solidFill>
                <a:latin typeface="Calibri"/>
              </a:rPr>
              <a:t>90%+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scheduling accuracy
for 3–15 devices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143000"/>
            <a:ext cx="2743200" cy="18288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234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4A261"/>
                </a:solidFill>
                <a:latin typeface="Calibri"/>
              </a:rPr>
              <a:t>~$150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1031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total hardware
cost to reproduce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46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6B6B"/>
                </a:solidFill>
                <a:latin typeface="Calibri"/>
              </a:rPr>
              <a:t>Broader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0332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•  Open-source release — any researcher can replicate the setup for ~$150 CAD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•  Calm technology framework applicable to hospitals, schools, and offices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•  Contributes to UN SDG 7 (Affordable Clean Energy) and SDG 11 (Sustainable Cities)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•  Blueprint for edge-AI smart homes without cloud dependency or privacy risks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666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DDBB"/>
                </a:solidFill>
                <a:latin typeface="Calibri"/>
              </a:rPr>
              <a:t>Student Participation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You Can Join This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DDBB"/>
                </a:solidFill>
                <a:latin typeface="Calibri"/>
              </a:rPr>
              <a:t>Slides 11–15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A261"/>
                </a:solidFill>
                <a:latin typeface="Calibri"/>
              </a:rPr>
              <a:t>Why Should You Join?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577840" cy="1691640"/>
          </a:xfrm>
          <a:prstGeom prst="rect">
            <a:avLst/>
          </a:prstGeom>
          <a:solidFill>
            <a:srgbClr val="12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54864" cy="16916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  <a:latin typeface="Calibri"/>
              </a:rPr>
              <a:t>📄  Real Publication Credit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DCC"/>
                </a:solidFill>
                <a:latin typeface="Calibri"/>
              </a:rPr>
              <a:t>Co-author opportunity on the final research paper submitted to an academic journal or conference.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920240"/>
            <a:ext cx="5577840" cy="1691640"/>
          </a:xfrm>
          <a:prstGeom prst="rect">
            <a:avLst/>
          </a:prstGeom>
          <a:solidFill>
            <a:srgbClr val="12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920240"/>
            <a:ext cx="54864" cy="16916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  <a:latin typeface="Calibri"/>
              </a:rPr>
              <a:t>🛠  Hands-On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DCC"/>
                </a:solidFill>
                <a:latin typeface="Calibri"/>
              </a:rPr>
              <a:t>Work with Raspberry Pi, Python, MQTT, InfluxDB, ZigBee — skills in high demand in IoT and embedded systems jobs.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5577840" cy="1691640"/>
          </a:xfrm>
          <a:prstGeom prst="rect">
            <a:avLst/>
          </a:prstGeom>
          <a:solidFill>
            <a:srgbClr val="12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54864" cy="16916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502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  <a:latin typeface="Calibri"/>
              </a:rPr>
              <a:t>🎓  Course Credit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0740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DCC"/>
                </a:solidFill>
                <a:latin typeface="Calibri"/>
              </a:rPr>
              <a:t>Applicable as an independent study or capstone project at most universities.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840480"/>
            <a:ext cx="5577840" cy="1691640"/>
          </a:xfrm>
          <a:prstGeom prst="rect">
            <a:avLst/>
          </a:prstGeom>
          <a:solidFill>
            <a:srgbClr val="12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840480"/>
            <a:ext cx="54864" cy="16916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9502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  <a:latin typeface="Calibri"/>
              </a:rPr>
              <a:t>🌱  Meaningful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40740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DCC"/>
                </a:solidFill>
                <a:latin typeface="Calibri"/>
              </a:rPr>
              <a:t>Your work directly contributes to reducing home energy waste and improving quality of life.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Available Student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3749039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64008" cy="228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D6A4F"/>
                </a:solidFill>
                <a:latin typeface="Calibri"/>
              </a:rPr>
              <a:t>Hardware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09928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Set up Raspberry Pi, wire sensors, configure ZigBee devices.
Skills: Basic electronics comfort, following instructions.
Time: 15 hrs/week in month 1–2.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43000"/>
            <a:ext cx="3749039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143000"/>
            <a:ext cx="64008" cy="228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234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D6A4F"/>
                </a:solidFill>
                <a:latin typeface="Calibri"/>
              </a:rPr>
              <a:t>Python 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709928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Write IoT-GPT logic: scheduling, MQTT, sensor reading.
Skills: Python basics (variables, loops, functions).
Time: 10 hrs/week ongoing.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143000"/>
            <a:ext cx="3749039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143000"/>
            <a:ext cx="64008" cy="228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234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D6A4F"/>
                </a:solidFill>
                <a:latin typeface="Calibri"/>
              </a:rPr>
              <a:t>Data Analyst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709928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Process InfluxDB data, build Grafana dashboards, run stats.
Skills: CSV/Excel, some Python (pandas is a bonus).
Time: 8 hrs/week month 3–8.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11880"/>
            <a:ext cx="3749039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611880"/>
            <a:ext cx="64008" cy="228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03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D6A4F"/>
                </a:solidFill>
                <a:latin typeface="Calibri"/>
              </a:rPr>
              <a:t>User Study Researcher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78808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Design surveys, recruit participants, conduct NASA-TLX tests.
Skills: Communication, basic research methods.
Time: 12 hrs/week month 6–8.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611880"/>
            <a:ext cx="3749039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611880"/>
            <a:ext cx="64008" cy="228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703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D6A4F"/>
                </a:solidFill>
                <a:latin typeface="Calibri"/>
              </a:rPr>
              <a:t>Technical Writer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178808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Document experiments, maintain the GitHub wiki, write the paper.
Skills: Clear writing, Markdown, GitHub basics.
Time: 6 hrs/week ongoing.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611880"/>
            <a:ext cx="3749039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611880"/>
            <a:ext cx="64008" cy="228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703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D6A4F"/>
                </a:solidFill>
                <a:latin typeface="Calibri"/>
              </a:rPr>
              <a:t>AI/LLM Integrator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178808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Fine-tune Mistral-7B on IoT device data, test reasoning quality.
Skills: Python + some ML familiarity.
Time: 10 hrs/week month 4–9.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666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Skills You Will Gain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3749039" cy="4754880"/>
          </a:xfrm>
          <a:prstGeom prst="rect">
            <a:avLst/>
          </a:prstGeom>
          <a:solidFill>
            <a:srgbClr val="12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A261"/>
                </a:solidFill>
                <a:latin typeface="Calibri"/>
              </a:rPr>
              <a:t>Hardware &amp; Embedded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56616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Raspberry Pi GPIO and Linux command line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ZigBee and MQTT protocols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Sensor wiring (no soldering required!)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Edge computing concepts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43000"/>
            <a:ext cx="3749039" cy="4754880"/>
          </a:xfrm>
          <a:prstGeom prst="rect">
            <a:avLst/>
          </a:prstGeom>
          <a:solidFill>
            <a:srgbClr val="12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34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A261"/>
                </a:solidFill>
                <a:latin typeface="Calibri"/>
              </a:rPr>
              <a:t>Software Development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56616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82880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Python for IoT (paho-mqtt, requests, csv)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Git version control and GitHub collaboration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REST API calls (weather, air quality)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Time-series database queries (InfluxDB/Flux)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143000"/>
            <a:ext cx="3749039" cy="4754880"/>
          </a:xfrm>
          <a:prstGeom prst="rect">
            <a:avLst/>
          </a:prstGeom>
          <a:solidFill>
            <a:srgbClr val="12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234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A261"/>
                </a:solidFill>
                <a:latin typeface="Calibri"/>
              </a:rPr>
              <a:t>Data &amp; Research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737360"/>
            <a:ext cx="356616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Grafana dashboard creation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Experimental design and control groups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Statistical analysis of A/B test results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Writing academic reports and documentation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No experience needed to start — we provide tutorials and a step-by-step beginner guide (included in this repo!)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to Get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5778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280160"/>
            <a:ext cx="822960" cy="8229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07592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Step 1
This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28016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D6A4F"/>
                </a:solidFill>
                <a:latin typeface="Calibri"/>
              </a:rPr>
              <a:t>Read the repo README and Beginner's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2880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Visit: github.com/gsleo1976/iot-gpt-research
Read README.md and the docs/ folder. Run the 10 sample Python programs.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55778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5080" y="1280160"/>
            <a:ext cx="822960" cy="8229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07592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Step 2
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28016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D6A4F"/>
                </a:solidFill>
                <a:latin typeface="Calibri"/>
              </a:rPr>
              <a:t>Set up your Raspberry 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2880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Follow the Beginner's Guide step by step. Takes about 1–2 days. Ask questions in the GitHub Discussions tab.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66160"/>
            <a:ext cx="55778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3703320"/>
            <a:ext cx="822960" cy="8229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30752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Step 3
Week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033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D6A4F"/>
                </a:solidFill>
                <a:latin typeface="Calibri"/>
              </a:rPr>
              <a:t>Pick a role and introduce yourself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5196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Email gurdev.leo@gmail.com with your background and which role interests you. No formal application — just say hi!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566160"/>
            <a:ext cx="55778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3703320"/>
            <a:ext cx="822960" cy="8229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730752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Step 4
Month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7033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D6A4F"/>
                </a:solidFill>
                <a:latin typeface="Calibri"/>
              </a:rPr>
              <a:t>Attend the Saturday session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25196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Virtual meeting every Saturday 10am–12pm. We pair new members with an experienced researcher for onboarding.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666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914400"/>
            <a:ext cx="5029200" cy="5029200"/>
          </a:xfrm>
          <a:prstGeom prst="ellipse">
            <a:avLst/>
          </a:prstGeom>
          <a:solidFill>
            <a:srgbClr val="12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30000" y="3657600"/>
            <a:ext cx="3657600" cy="3657600"/>
          </a:xfrm>
          <a:prstGeom prst="ellipse">
            <a:avLst/>
          </a:prstGeom>
          <a:solidFill>
            <a:srgbClr val="0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4A261"/>
                </a:solidFill>
                <a:latin typeface="Calibri"/>
              </a:rPr>
              <a:t>Join the Research!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DDBB"/>
                </a:solidFill>
                <a:latin typeface="Calibri"/>
              </a:rPr>
              <a:t>Help us build smarter, calmer, and more sustainable homes.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88920"/>
            <a:ext cx="8046720" cy="685800"/>
          </a:xfrm>
          <a:prstGeom prst="rect">
            <a:avLst/>
          </a:prstGeom>
          <a:solidFill>
            <a:srgbClr val="12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88920"/>
            <a:ext cx="54864" cy="685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52927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4A261"/>
                </a:solidFill>
                <a:latin typeface="Calibri"/>
              </a:rPr>
              <a:t>📧 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880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DBB"/>
                </a:solidFill>
                <a:latin typeface="Calibri"/>
              </a:rPr>
              <a:t>gurdev.leo@gmail.com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93591"/>
            <a:ext cx="8046720" cy="685800"/>
          </a:xfrm>
          <a:prstGeom prst="rect">
            <a:avLst/>
          </a:prstGeom>
          <a:solidFill>
            <a:srgbClr val="12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593591"/>
            <a:ext cx="54864" cy="685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575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4A261"/>
                </a:solidFill>
                <a:latin typeface="Calibri"/>
              </a:rPr>
              <a:t>🐙 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685031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DBB"/>
                </a:solidFill>
                <a:latin typeface="Calibri"/>
              </a:rPr>
              <a:t>github.com/gsleo1976/iot-gpt-research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98264"/>
            <a:ext cx="8046720" cy="685800"/>
          </a:xfrm>
          <a:prstGeom prst="rect">
            <a:avLst/>
          </a:prstGeom>
          <a:solidFill>
            <a:srgbClr val="12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98264"/>
            <a:ext cx="54864" cy="685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622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4A261"/>
                </a:solidFill>
                <a:latin typeface="Calibri"/>
              </a:rPr>
              <a:t>📅  Weekly Meeting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489703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DBB"/>
                </a:solidFill>
                <a:latin typeface="Calibri"/>
              </a:rPr>
              <a:t>Every Saturday 10am–12pm (virtual, link on GitHub)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No experience needed  •  Open to all students  •  Remote participation welcome  •  Free hardware guidance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0000" y="-700000"/>
            <a:ext cx="4800000" cy="4800000"/>
          </a:xfrm>
          <a:prstGeom prst="ellipse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00000" y="2500000"/>
            <a:ext cx="3000000" cy="3000000"/>
          </a:xfrm>
          <a:prstGeom prst="ellipse">
            <a:avLst/>
          </a:prstGeom>
          <a:solidFill>
            <a:srgbClr val="0A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50000"/>
            <a:ext cx="60000" cy="380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000"/>
            <a:ext cx="11423192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4A261"/>
                </a:solidFill>
                <a:latin typeface="Calibri"/>
              </a:rPr>
              <a:t>15 Real-World Use Cases  |  IoT-GPT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88952" y="6508000"/>
            <a:ext cx="600000" cy="2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0C0C0"/>
                </a:solidFill>
                <a:latin typeface="Calibri"/>
              </a:rPr>
              <a:t>16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68580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6223" y="762000"/>
            <a:ext cx="304800" cy="3048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6223" y="76200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40" y="112680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Snow Alert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840" y="135680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Shoe-rack bulb glows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blue when snow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is forecast tonight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5806" y="68580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59149" y="762000"/>
            <a:ext cx="304800" cy="3048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9149" y="76200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6766" y="112680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Load Staggering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6766" y="135680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Stops room heater +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water heater running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at the same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48732" y="68580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42075" y="762000"/>
            <a:ext cx="304800" cy="3048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2075" y="76200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9692" y="112680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Off-Peak Shifting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9692" y="135680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Moves heavy devices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to cheap-rate hours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(11 pm – 6 am)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1658" y="68580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25001" y="762000"/>
            <a:ext cx="304800" cy="3048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5001" y="76200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2618" y="112680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Guest Arrival Mode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2618" y="135680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Home warms &amp; lights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adjust 30 min before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guests arrive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14584" y="68580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07927" y="762000"/>
            <a:ext cx="304800" cy="3048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07927" y="76200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75544" y="112680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Air Quality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75544" y="135680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Auto-opens windows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when outdoor AQI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is cleaner than indoor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272288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76223" y="2799080"/>
            <a:ext cx="304800" cy="304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76223" y="279908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3840" y="316388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Sunrise Automation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3840" y="339388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Lights fade in gently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at local sunrise;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blinds raise at dusk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5806" y="272288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559149" y="2799080"/>
            <a:ext cx="304800" cy="304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59149" y="279908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26766" y="316388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Pre-Scheduled Water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26766" y="339388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Hot water ready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5 min before your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usual shower time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48732" y="272288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42075" y="2799080"/>
            <a:ext cx="304800" cy="304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2075" y="279908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09692" y="316388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Renewable Signal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09692" y="339388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Living room pulses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green when the grid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runs on clean energy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31658" y="272288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325001" y="2799080"/>
            <a:ext cx="304800" cy="304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5001" y="279908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92618" y="316388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Climate Balance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92618" y="339388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Coordinates heating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across rooms to avoid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cold spots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14584" y="272288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707927" y="2799080"/>
            <a:ext cx="304800" cy="304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07927" y="279908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75544" y="316388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Fault Detection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75544" y="339388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Amber glow when a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device shows unusual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power behaviour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2880" y="475996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76223" y="4836160"/>
            <a:ext cx="304800" cy="304800"/>
          </a:xfrm>
          <a:prstGeom prst="ellipse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76223" y="483616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🌛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3840" y="520096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Sleep Mode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3840" y="543096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All standby devices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power down quietly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at your bedtime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65806" y="475996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559149" y="4836160"/>
            <a:ext cx="304800" cy="304800"/>
          </a:xfrm>
          <a:prstGeom prst="ellipse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559149" y="483616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26766" y="520096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Budget Tracking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26766" y="543096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Monitors daily spend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vs. energy budget;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shows calm review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48732" y="475996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942075" y="4836160"/>
            <a:ext cx="304800" cy="304800"/>
          </a:xfrm>
          <a:prstGeom prst="ellipse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2075" y="483616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09692" y="520096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Device Discovery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09692" y="543096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Auto-detects new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IoT devices added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to the home network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31658" y="475996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325001" y="4836160"/>
            <a:ext cx="304800" cy="304800"/>
          </a:xfrm>
          <a:prstGeom prst="ellipse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25001" y="483616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92618" y="520096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Carbon Monitor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92618" y="543096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Tracks household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CO₂e daily and shows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a weekly trend chart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714584" y="475996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707927" y="4836160"/>
            <a:ext cx="304800" cy="304800"/>
          </a:xfrm>
          <a:prstGeom prst="ellipse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707927" y="483616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☀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75544" y="520096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Morning Routine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75544" y="543096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Orchestrated wake-up: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heater, kettle &amp; lights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all coordinated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