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-1371600"/>
            <a:ext cx="7315200" cy="7315200"/>
          </a:xfrm>
          <a:prstGeom prst="ellipse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0A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73152" cy="10058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IoT-GPT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8D8D8"/>
                </a:solidFill>
                <a:latin typeface="Calibri"/>
              </a:rPr>
              <a:t>Intelligent IoT Coordination for Sustainable Living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8AAAA"/>
                </a:solidFill>
                <a:latin typeface="Calibri"/>
              </a:rPr>
              <a:t>A Research Project on Smart Home Automation &amp; Calm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80560"/>
            <a:ext cx="3200400" cy="54864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AAAA"/>
                </a:solidFill>
                <a:latin typeface="Calibri"/>
              </a:rPr>
              <a:t>Gurdev Singh  •  gsleo1976  •  March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4A261"/>
                </a:solidFill>
                <a:latin typeface="Calibri"/>
              </a:rPr>
              <a:t>github.com/gsleo1976/iot-gpt-research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Energy Waste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Room heater + water heater running simultaneously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Both draw 3,500W — can trip the circuit breaker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Peak hours (6–9am, 5–8pm) are 2x more expensive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Average home wastes 20–30% energy on poor scheduling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3949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Notification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Smartphones buzz 80+ times per day on average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Every alert pulls you out of focus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Most smart home alerts are low-priority</a:t>
            </a:r>
          </a:p>
          <a:p>
            <a:pPr>
              <a:spcBef>
                <a:spcPts val="4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•  We need ambient, calm ways to stay informed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1">
                <a:solidFill>
                  <a:srgbClr val="1A6B6B"/>
                </a:solidFill>
                <a:latin typeface="Calibri"/>
              </a:rPr>
              <a:t>IoT-GPT solves both problems with intelligent coordination + calm technology.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is IoT-GPT?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D8D8"/>
                </a:solidFill>
                <a:latin typeface="Calibri"/>
              </a:rPr>
              <a:t>A smart AI brain that understands every device in your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228600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4864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A261"/>
                </a:solidFill>
                <a:latin typeface="Calibri"/>
              </a:rPr>
              <a:t>🧠  Device Expert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EEE"/>
                </a:solidFill>
                <a:latin typeface="Calibri"/>
              </a:rPr>
              <a:t>Knows every device's power, warmup time, and conflicts. Never runs the room heater and water heater at the same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486400" cy="228600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2984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A261"/>
                </a:solidFill>
                <a:latin typeface="Calibri"/>
              </a:rPr>
              <a:t>📅  Smart Scheduler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EEE"/>
                </a:solidFill>
                <a:latin typeface="Calibri"/>
              </a:rPr>
              <a:t>Plans your morning routine — water heats by 6:58am, room warms by 6:40am — all before you wake up at 7am.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5486400" cy="228600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54864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5876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A261"/>
                </a:solidFill>
                <a:latin typeface="Calibri"/>
              </a:rPr>
              <a:t>💡  Calm Notifier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EEE"/>
                </a:solidFill>
                <a:latin typeface="Calibri"/>
              </a:rPr>
              <a:t>A shoe-rack smart bulb glows soft blue if snow is forecast. No buzzing. No popup. Just a gentle glow.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749039"/>
            <a:ext cx="5486400" cy="228600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749039"/>
            <a:ext cx="54864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85876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A261"/>
                </a:solidFill>
                <a:latin typeface="Calibri"/>
              </a:rPr>
              <a:t>⚡  Energy Optimizer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38912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EEE"/>
                </a:solidFill>
                <a:latin typeface="Calibri"/>
              </a:rPr>
              <a:t>Shifts high-power devices to off-peak hours automatically. Target: 15–25% energy reduction.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772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Physical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252728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EEEE"/>
                </a:solidFill>
                <a:latin typeface="Calibri"/>
              </a:rPr>
              <a:t>DHT22 sensors  •  ZigBee smart bulbs  •  Smart heaters  •  Power 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7647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6B6B"/>
                </a:solidFill>
                <a:latin typeface="Calibri"/>
              </a:rPr>
              <a:t>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93392"/>
            <a:ext cx="11247120" cy="777240"/>
          </a:xfrm>
          <a:prstGeom prst="rect">
            <a:avLst/>
          </a:prstGeom>
          <a:solidFill>
            <a:srgbClr val="1A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Protocol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EEEE"/>
                </a:solidFill>
                <a:latin typeface="Calibri"/>
              </a:rPr>
              <a:t>ZigBee (via Zigbee2MQTT)  +  MQTT Broker (Mosquitto)  on  Raspberry Pi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6151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6B6B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43784"/>
            <a:ext cx="1124712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8950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Intelligence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953512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EEEE"/>
                </a:solidFill>
                <a:latin typeface="Calibri"/>
              </a:rPr>
              <a:t>Device Attribute Registry (DAR)  •  Coordination Engine (OR-Tools)  •  Mistral-7B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465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6B6B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94176"/>
            <a:ext cx="11247120" cy="777240"/>
          </a:xfrm>
          <a:prstGeom prst="rect">
            <a:avLst/>
          </a:prstGeom>
          <a:solidFill>
            <a:srgbClr val="0D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98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4. Application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03904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EEEE"/>
                </a:solidFill>
                <a:latin typeface="Calibri"/>
              </a:rPr>
              <a:t>Calm Notification Controller  •  Energy Optimizer  •  Scheduling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6B6B"/>
                </a:solidFill>
                <a:latin typeface="Calibri"/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44568"/>
            <a:ext cx="11247120" cy="777240"/>
          </a:xfrm>
          <a:prstGeom prst="rect">
            <a:avLst/>
          </a:prstGeom>
          <a:solidFill>
            <a:srgbClr val="0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02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 Data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654296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EEEE"/>
                </a:solidFill>
                <a:latin typeface="Calibri"/>
              </a:rPr>
              <a:t>InfluxDB (time-series storage)  •  Grafana (dashboards)  •  Node-RED (flows)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97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6B6B"/>
                </a:solidFill>
                <a:latin typeface="Calibri"/>
              </a:rPr>
              <a:t>All components run locally on Raspberry Pi 5  •  No cloud dependency  •  Privacy by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Device Attribute Registry (DAR)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A8D8D8"/>
                </a:solidFill>
                <a:latin typeface="Calibri"/>
              </a:rPr>
              <a:t>The knowledge base — IoT-GPT knows everything about every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Example: Water Heater Entry in 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5486400" cy="2377440"/>
          </a:xfrm>
          <a:prstGeom prst="rect">
            <a:avLst/>
          </a:prstGeom>
          <a:solidFill>
            <a:srgbClr val="08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{ "device": "water_heater_01",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  "power_watts": 2000,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9514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  "warmup_minutes": 30,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4261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  "conflicts_with": ["room_heater"],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008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  "preferred_hours": [1, 2, 3, 4, 5],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0FFC0"/>
                </a:solidFill>
                <a:latin typeface="Courier New"/>
              </a:rPr>
              <a:t>  "avoid_peak_hours": true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143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DAR Attribute Categories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554480"/>
            <a:ext cx="5029200" cy="713232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600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4A261"/>
                </a:solidFill>
                <a:latin typeface="Calibri"/>
              </a:rPr>
              <a:t>Physical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9019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EEE"/>
                </a:solidFill>
                <a:latin typeface="Calibri"/>
              </a:rPr>
              <a:t>Power draw, voltage, warmup time, temperature 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377440"/>
            <a:ext cx="5029200" cy="713232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4A261"/>
                </a:solidFill>
                <a:latin typeface="Calibri"/>
              </a:rPr>
              <a:t>Behavioral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2491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EEE"/>
                </a:solidFill>
                <a:latin typeface="Calibri"/>
              </a:rPr>
              <a:t>Interruptible? Max daily cycles? Run duration?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200400"/>
            <a:ext cx="5029200" cy="713232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4A261"/>
                </a:solidFill>
                <a:latin typeface="Calibri"/>
              </a:rPr>
              <a:t>Relational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5478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EEE"/>
                </a:solidFill>
                <a:latin typeface="Calibri"/>
              </a:rPr>
              <a:t>Conflicts with which devices? Preferred sequence?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023360"/>
            <a:ext cx="5029200" cy="713232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4A261"/>
                </a:solidFill>
                <a:latin typeface="Calibri"/>
              </a:rPr>
              <a:t>Temporal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37083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EEE"/>
                </a:solidFill>
                <a:latin typeface="Calibri"/>
              </a:rPr>
              <a:t>Best hours to run, peak hours to avoid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846320"/>
            <a:ext cx="5029200" cy="713232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4A261"/>
                </a:solidFill>
                <a:latin typeface="Calibri"/>
              </a:rPr>
              <a:t>Calm-Tech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19379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EEE"/>
                </a:solidFill>
                <a:latin typeface="Calibri"/>
              </a:rPr>
              <a:t>Notification color, brightness level, conditions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Multi-Device Coordination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6B"/>
                </a:solidFill>
                <a:latin typeface="Calibri"/>
              </a:rPr>
              <a:t>Smart Morning Schedule (Wake at 7:00 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3333"/>
                </a:solidFill>
                <a:latin typeface="Calibri"/>
              </a:rPr>
              <a:t>WITHOUT IoT-GPT (all devices ON at 7am — 3,500W surge!)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965960"/>
            <a:ext cx="2743200" cy="411480"/>
          </a:xfrm>
          <a:prstGeom prst="rect">
            <a:avLst/>
          </a:prstGeom>
          <a:solidFill>
            <a:srgbClr val="FF7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201168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Water Heater 2000W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2286000" cy="411480"/>
          </a:xfrm>
          <a:prstGeom prst="rect">
            <a:avLst/>
          </a:prstGeom>
          <a:solidFill>
            <a:srgbClr val="FF9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0116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Room Heater 1500W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7:00 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6B"/>
                </a:solidFill>
                <a:latin typeface="Calibri"/>
              </a:rPr>
              <a:t>WITH IoT-GPT (staggered, off-peak, 30% savings!)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337560"/>
            <a:ext cx="2560320" cy="411480"/>
          </a:xfrm>
          <a:prstGeom prst="rect">
            <a:avLst/>
          </a:prstGeom>
          <a:solidFill>
            <a:srgbClr val="1A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3383280"/>
            <a:ext cx="245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Room Heater 1500W — 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337560"/>
            <a:ext cx="2560320" cy="411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3383280"/>
            <a:ext cx="245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Water Heater 2000W —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337560"/>
            <a:ext cx="1097280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3383280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Lights ON 10%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6:00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6:20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6:30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6:40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6:50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7:00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7:05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59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666"/>
                </a:solidFill>
                <a:latin typeface="Calibri"/>
              </a:rPr>
              <a:t>7:10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3200400"/>
            <a:ext cx="18288" cy="731520"/>
          </a:xfrm>
          <a:prstGeom prst="rect">
            <a:avLst/>
          </a:prstGeom>
          <a:solidFill>
            <a:srgbClr val="55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63440"/>
            <a:ext cx="3749039" cy="5943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7548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 simultaneous high-power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663440"/>
            <a:ext cx="3749039" cy="5943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7548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Peak hours (6–9 AM) shifted away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4663440"/>
            <a:ext cx="3749039" cy="594360"/>
          </a:xfrm>
          <a:prstGeom prst="rect">
            <a:avLst/>
          </a:prstGeom>
          <a:solidFill>
            <a:srgbClr val="2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47548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15–25% energy cost reduction target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Calm Technology — Notifications Done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77724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CCEEEE"/>
                </a:solidFill>
                <a:latin typeface="Calibri"/>
              </a:rPr>
              <a:t>"The most potentially interesting, challenging, and profound change implied by the ubiquitous computing era is a focus on calm."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556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4A261"/>
                </a:solidFill>
                <a:latin typeface="Calibri"/>
              </a:rPr>
              <a:t>— Weiser &amp; Brown, Designing Calm Technology (1995)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2057400"/>
            <a:ext cx="685800" cy="685800"/>
          </a:xfrm>
          <a:prstGeom prst="ellipse">
            <a:avLst/>
          </a:prstGeom>
          <a:solidFill>
            <a:srgbClr val="309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A261"/>
                </a:solidFill>
                <a:latin typeface="Calibri"/>
              </a:rPr>
              <a:t>❄  Snow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090CC"/>
                </a:solidFill>
                <a:latin typeface="Calibri"/>
              </a:rPr>
              <a:t>BLUE
Soft Glow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AACCCC"/>
                </a:solidFill>
                <a:latin typeface="Calibri"/>
              </a:rPr>
              <a:t>Wear snow boots!</a:t>
            </a:r>
          </a:p>
        </p:txBody>
      </p:sp>
      <p:sp>
        <p:nvSpPr>
          <p:cNvPr id="11" name="Oval 10"/>
          <p:cNvSpPr/>
          <p:nvPr/>
        </p:nvSpPr>
        <p:spPr>
          <a:xfrm>
            <a:off x="3611879" y="2057400"/>
            <a:ext cx="685800" cy="685800"/>
          </a:xfrm>
          <a:prstGeom prst="ellipse">
            <a:avLst/>
          </a:prstGeom>
          <a:solidFill>
            <a:srgbClr val="88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2834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A261"/>
                </a:solidFill>
                <a:latin typeface="Calibri"/>
              </a:rPr>
              <a:t>🌫  Poor Air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3375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44AA"/>
                </a:solidFill>
                <a:latin typeface="Calibri"/>
              </a:rPr>
              <a:t>PURPLE
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9776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AACCCC"/>
                </a:solidFill>
                <a:latin typeface="Calibri"/>
              </a:rPr>
              <a:t>Keep windows closed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057400"/>
            <a:ext cx="685800" cy="685800"/>
          </a:xfrm>
          <a:prstGeom prst="ellipse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834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A261"/>
                </a:solidFill>
                <a:latin typeface="Calibri"/>
              </a:rPr>
              <a:t>🔴  High CO₂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3375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3333"/>
                </a:solidFill>
                <a:latin typeface="Calibri"/>
              </a:rPr>
              <a:t>RED
Bright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9776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AACCCC"/>
                </a:solidFill>
                <a:latin typeface="Calibri"/>
              </a:rPr>
              <a:t>Open window now!</a:t>
            </a:r>
          </a:p>
        </p:txBody>
      </p:sp>
      <p:sp>
        <p:nvSpPr>
          <p:cNvPr id="19" name="Oval 18"/>
          <p:cNvSpPr/>
          <p:nvPr/>
        </p:nvSpPr>
        <p:spPr>
          <a:xfrm>
            <a:off x="8275319" y="2057400"/>
            <a:ext cx="685800" cy="685800"/>
          </a:xfrm>
          <a:prstGeom prst="ellipse">
            <a:avLst/>
          </a:prstGeom>
          <a:solidFill>
            <a:srgbClr val="DD8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59" y="2834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A261"/>
                </a:solidFill>
                <a:latin typeface="Calibri"/>
              </a:rPr>
              <a:t>⚡  Peak Hour Soon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33375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D8822"/>
                </a:solidFill>
                <a:latin typeface="Calibri"/>
              </a:rPr>
              <a:t>AMBER
Slow Pulse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39776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AACCCC"/>
                </a:solidFill>
                <a:latin typeface="Calibri"/>
              </a:rPr>
              <a:t>Delay high-power use</a:t>
            </a:r>
          </a:p>
        </p:txBody>
      </p:sp>
      <p:sp>
        <p:nvSpPr>
          <p:cNvPr id="23" name="Oval 22"/>
          <p:cNvSpPr/>
          <p:nvPr/>
        </p:nvSpPr>
        <p:spPr>
          <a:xfrm>
            <a:off x="10607040" y="2057400"/>
            <a:ext cx="685800" cy="685800"/>
          </a:xfrm>
          <a:prstGeom prst="ellipse">
            <a:avLst/>
          </a:prstGeom>
          <a:solidFill>
            <a:srgbClr val="22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2834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A261"/>
                </a:solidFill>
                <a:latin typeface="Calibri"/>
              </a:rPr>
              <a:t>✅  All 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3375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28855"/>
                </a:solidFill>
                <a:latin typeface="Calibri"/>
              </a:rPr>
              <a:t>OFF
(dark)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9776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AACCCC"/>
                </a:solidFill>
                <a:latin typeface="Calibri"/>
              </a:rPr>
              <a:t>No action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CCCC"/>
                </a:solidFill>
                <a:latin typeface="Calibri"/>
              </a:rPr>
              <a:t>The light works at the periphery of attention — you notice it without being interrupted.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40680"/>
            <a:ext cx="11247120" cy="68580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EECC"/>
                </a:solidFill>
                <a:latin typeface="Calibri"/>
              </a:rPr>
              <a:t>Experiment 2 will measure: Push notification stress vs. ambient light — using NASA-TLX cognitive load scale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Experimental Setup — Hardware &amp;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6B"/>
                </a:solidFill>
                <a:latin typeface="Calibri"/>
              </a:rPr>
              <a:t>Hardware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Raspberry Pi 5 (8GB) — IoT-GPT brain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SONOFF ZigBee 3.0 USB Dongle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2× DHT22 temperature / humidity sensors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Philips Hue or IKEA TRÅDFRI smart bulb (shoe rack)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Smart power meters on all heaters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CAT5e Ethernet to home router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43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6B"/>
                </a:solidFill>
                <a:latin typeface="Calibri"/>
              </a:rPr>
              <a:t>Software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Mosquitto — MQTT message broker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Zigbee2MQTT — ZigBee device bridge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InfluxDB 2.x — time-series database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Grafana — real-time dashboards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Python 3.11 — all IoT-GPT logic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Mistral-7B (local) — LLM reasoning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•  Google OR-Tools — constraint scheduling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74920"/>
            <a:ext cx="11247120" cy="10515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Estimated Cost:  Hardware ≈ $150 CAD  |  Software: FREE (all open-source)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F4A261"/>
                </a:solidFill>
                <a:latin typeface="Calibri"/>
              </a:rPr>
              <a:t>All code available at  github.com/gsleo1976/iot-gpt-research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6 Research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" y="129844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984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Energy Savings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Compare kWh with/without IoT-GPT. Target: 15–25% reduction.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7408" y="129844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2984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Calm vs Push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84708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NASA-TLX cognitive load test. Ambient light vs. phone buzz.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8872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39327" y="129844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2984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IoT-GPT vs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84708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User study: AI scheduling vs. manual control. Error rate &amp; comfort.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61188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5488" y="372160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7490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7216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Load Optimization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27024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Constraint satisfaction: schedule 5+ devices under 15A circuit limit.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61188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07408" y="372160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37490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7216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Snow Alert Field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7024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Real-world shoe-rack bulb test over 30 days. Recall accuracy.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3611880"/>
            <a:ext cx="3749039" cy="2194560"/>
          </a:xfrm>
          <a:prstGeom prst="rect">
            <a:avLst/>
          </a:prstGeom>
          <a:solidFill>
            <a:srgbClr val="1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39327" y="3721608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7" y="37490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7216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Scalability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27024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EEEE"/>
                </a:solidFill>
                <a:latin typeface="Calibri"/>
              </a:rPr>
              <a:t>Scale from 3 to 15 devices. Measure response time &amp; accuracy.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Expected Results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2743200" cy="18288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4A261"/>
                </a:solidFill>
                <a:latin typeface="Calibri"/>
              </a:rPr>
              <a:t>15–25%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energy savings
per household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43000"/>
            <a:ext cx="2743200" cy="18288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4A261"/>
                </a:solidFill>
                <a:latin typeface="Calibri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lower cognitive
load from calm tech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43000"/>
            <a:ext cx="2743200" cy="18288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4A261"/>
                </a:solidFill>
                <a:latin typeface="Calibri"/>
              </a:rPr>
              <a:t>90%+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10312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scheduling accuracy
for 3–15 devices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143000"/>
            <a:ext cx="2743200" cy="18288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234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4A261"/>
                </a:solidFill>
                <a:latin typeface="Calibri"/>
              </a:rPr>
              <a:t>~$150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10312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total hardware
cost to reproduce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6B"/>
                </a:solidFill>
                <a:latin typeface="Calibri"/>
              </a:rPr>
              <a:t>Broader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•  Open-source release — any researcher can replicate the setup for ~$150 CAD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•  Calm technology framework applicable to hospitals, schools, and offices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•  Contributes to UN SDG 7 (Affordable Clean Energy) and SDG 11 (Sustainable Cities)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•  Blueprint for edge-AI smart homes without cloud dependency or privacy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DDBB"/>
                </a:solidFill>
                <a:latin typeface="Calibri"/>
              </a:rPr>
              <a:t>Student Participation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You Can Join This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45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DDBB"/>
                </a:solidFill>
                <a:latin typeface="Calibri"/>
              </a:rPr>
              <a:t>Slides 11–15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A261"/>
                </a:solidFill>
                <a:latin typeface="Calibri"/>
              </a:rPr>
              <a:t>Why Should You Join?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5577840" cy="169164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54864" cy="1691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299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📄  Real Publication Credit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DCC"/>
                </a:solidFill>
                <a:latin typeface="Calibri"/>
              </a:rPr>
              <a:t>Co-author opportunity on the final research paper submitted to an academic journal or conference.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5577840" cy="169164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54864" cy="1691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🛠  Hands-On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DCC"/>
                </a:solidFill>
                <a:latin typeface="Calibri"/>
              </a:rPr>
              <a:t>Work with Raspberry Pi, Python, MQTT, InfluxDB, ZigBee — skills in high demand in IoT and embedded systems jobs.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577840" cy="169164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54864" cy="1691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020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🎓  Course Credit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0740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DCC"/>
                </a:solidFill>
                <a:latin typeface="Calibri"/>
              </a:rPr>
              <a:t>Applicable as an independent study or capstone project at most universities.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577840" cy="169164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40480"/>
            <a:ext cx="54864" cy="1691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5020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  <a:latin typeface="Calibri"/>
              </a:rPr>
              <a:t>🌱  Meaningful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0740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DCC"/>
                </a:solidFill>
                <a:latin typeface="Calibri"/>
              </a:rPr>
              <a:t>Your work directly contributes to reducing home energy waste and improving quality of life.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Available Student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Hardware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0992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Set up Raspberry Pi, wire sensors, configure ZigBee devices.
Skills: Basic electronics comfort, following instructions.
Time: 15 hrs/week in month 1–2.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4300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4300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Python 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0992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Write IoT-GPT logic: scheduling, MQTT, sensor reading.
Skills: Python basics (variables, loops, functions).
Time: 10 hrs/week ongoing.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4300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4300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Data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70992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Process InfluxDB data, build Grafana dashboards, run stats.
Skills: CSV/Excel, some Python (pandas is a bonus).
Time: 8 hrs/week month 3–8.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User Study Researcher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7880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Design surveys, recruit participants, conduct NASA-TLX tests.
Skills: Communication, basic research methods.
Time: 12 hrs/week month 6–8.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61188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61188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Technical Writer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17880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Document experiments, maintain the GitHub wiki, write the paper.
Skills: Clear writing, Markdown, GitHub basics.
Time: 6 hrs/week ongoing.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611880"/>
            <a:ext cx="3749039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611880"/>
            <a:ext cx="64008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AI/LLM Integrator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7880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Fine-tune Mistral-7B on IoT device data, test reasoning quality.
Skills: Python + some ML familiarity.
Time: 10 hrs/week month 4–9.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Skills You Will Gain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3749039" cy="475488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A261"/>
                </a:solidFill>
                <a:latin typeface="Calibri"/>
              </a:rPr>
              <a:t>Hardware &amp; Embedded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56616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Raspberry Pi GPIO and Linux command line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ZigBee and MQTT protocols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Sensor wiring (no soldering required!)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Edge computing concepts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43000"/>
            <a:ext cx="3749039" cy="475488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34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A261"/>
                </a:solidFill>
                <a:latin typeface="Calibri"/>
              </a:rPr>
              <a:t>Software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56616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Python for IoT (paho-mqtt, requests, csv)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Git version control and GitHub collaboration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REST API calls (weather, air quality)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Time-series database queries (InfluxDB/Flux)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43000"/>
            <a:ext cx="3749039" cy="475488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34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A261"/>
                </a:solidFill>
                <a:latin typeface="Calibri"/>
              </a:rPr>
              <a:t>Data &amp; Research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737360"/>
            <a:ext cx="356616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Grafana dashboard creation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Experimental design and control groups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Statistical analysis of A/B test results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BDDCC"/>
                </a:solidFill>
                <a:latin typeface="Calibri"/>
              </a:rPr>
              <a:t>•  Writing academic reports and documentation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17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No experience needed to start — we provide tutorials and a step-by-step beginner guide (included in this repo!)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to 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55778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1280160"/>
            <a:ext cx="822960" cy="8229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07592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Step 1
This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Read the repo README and Beginner's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2880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Visit: github.com/gsleo1976/iot-gpt-research
Read README.md and the docs/ folder. Run the 10 sample Python programs.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55778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1280160"/>
            <a:ext cx="822960" cy="8229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07592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Step 2
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28016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Set up your Raspberry 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Follow the Beginner's Guide step by step. Takes about 1–2 days. Ask questions in the GitHub Discussions tab.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66160"/>
            <a:ext cx="55778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2920" y="3703320"/>
            <a:ext cx="822960" cy="8229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730752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Step 3
Week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0332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Pick a role and introduce yourself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5196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Email gurdev.leo@gmail.com with your background and which role interests you. No formal application — just say hi!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566160"/>
            <a:ext cx="55778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55080" y="3703320"/>
            <a:ext cx="822960" cy="8229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730752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Step 4
Month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70332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D6A4F"/>
                </a:solidFill>
                <a:latin typeface="Calibri"/>
              </a:rPr>
              <a:t>Attend the Saturday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25196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Virtual meeting every Saturday 10am–12pm. We pair new members with an experienced researcher for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6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-914400"/>
            <a:ext cx="5029200" cy="5029200"/>
          </a:xfrm>
          <a:prstGeom prst="ellipse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30000" y="3657600"/>
            <a:ext cx="3657600" cy="3657600"/>
          </a:xfrm>
          <a:prstGeom prst="ellipse">
            <a:avLst/>
          </a:prstGeom>
          <a:solidFill>
            <a:srgbClr val="0A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4A261"/>
                </a:solidFill>
                <a:latin typeface="Calibri"/>
              </a:rPr>
              <a:t>Join the Research!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DBB"/>
                </a:solidFill>
                <a:latin typeface="Calibri"/>
              </a:rPr>
              <a:t>Help us build smarter, calmer, and more sustainable homes.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8046720" cy="68580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54864" cy="685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5292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📧 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DBB"/>
                </a:solidFill>
                <a:latin typeface="Calibri"/>
              </a:rPr>
              <a:t>gurdev.leo@gmail.com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93591"/>
            <a:ext cx="8046720" cy="68580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593591"/>
            <a:ext cx="54864" cy="685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5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🐙  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850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DBB"/>
                </a:solidFill>
                <a:latin typeface="Calibri"/>
              </a:rPr>
              <a:t>github.com/gsleo1976/iot-gpt-research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98264"/>
            <a:ext cx="8046720" cy="685800"/>
          </a:xfrm>
          <a:prstGeom prst="rect">
            <a:avLst/>
          </a:prstGeom>
          <a:solidFill>
            <a:srgbClr val="12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98264"/>
            <a:ext cx="54864" cy="685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62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4A261"/>
                </a:solidFill>
                <a:latin typeface="Calibri"/>
              </a:rPr>
              <a:t>📅  Weekly Meeting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489703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DBB"/>
                </a:solidFill>
                <a:latin typeface="Calibri"/>
              </a:rPr>
              <a:t>Every Saturday 10am–12pm (virtual, link on GitHub)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No experience needed  •  Open to all students  •  Remote participation welcome  •  Free hardware guidance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91672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