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7315200" cy="731520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73152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IoT-GPT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D8D8"/>
                </a:solidFill>
                <a:latin typeface="Calibri"/>
              </a:rPr>
              <a:t>Intelligent IoT Coordination for Sustainable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AAA"/>
                </a:solidFill>
                <a:latin typeface="Calibri"/>
              </a:rPr>
              <a:t>A Research Project on Smart Home Automation &amp; Calm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80560"/>
            <a:ext cx="32004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AA"/>
                </a:solidFill>
                <a:latin typeface="Calibri"/>
              </a:rPr>
              <a:t>Gurdev Singh  •  gsleo1976  •  March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github.com/gsleo1976/iot-gpt-research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Energy 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Room heater + water heater running simultaneously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Both draw 3,500W — can trip the circuit breaker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Peak hours (6–9am, 5–8pm) are 2x more expensive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Average home wastes 20–30% energy on poor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Notification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Smartphones buzz 80+ times per day on average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Every alert pulls you out of focus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Most smart home alerts are low-priority</a:t>
            </a:r>
          </a:p>
          <a:p>
            <a:pPr>
              <a:spcBef>
                <a:spcPts val="4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•  We need ambient, calm ways to stay informed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1">
                <a:solidFill>
                  <a:srgbClr val="1A6B6B"/>
                </a:solidFill>
                <a:latin typeface="Calibri"/>
              </a:rPr>
              <a:t>IoT-GPT solves both problems with intelligent coordination + calm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IoT-GPT?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D8"/>
                </a:solidFill>
                <a:latin typeface="Calibri"/>
              </a:rPr>
              <a:t>A smart AI brain that understands every device in your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🧠  Device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Knows every device's power, warmup time, and conflicts. Never runs the room heater and water heater at the same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📅  Smart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Plans your morning routine — water heats by 6:58am, room warms by 6:40am — all before you wake up at 7am.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💡  Calm Notifier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A shoe-rack smart bulb glows soft blue if snow is forecast. No buzzing. No popup. Just a gentle glow.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5486400" cy="22860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⚡  Energy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EE"/>
                </a:solidFill>
                <a:latin typeface="Calibri"/>
              </a:rPr>
              <a:t>Shifts high-power devices to off-peak hours automatically. Target: 15–25% energy reduction.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Physical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527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DHT22 sensors  •  ZigBee smart bulbs  •  Smart heaters  •  Power 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764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11247120" cy="77724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Protocol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ZigBee (via Zigbee2MQTT)  +  MQTT Broker (Mosquitto)  on  Raspberry Pi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15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43784"/>
            <a:ext cx="11247120" cy="7772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Intelligence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53512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Device Attribute Registry (DAR)  •  Coordination Engine (OR-Tools)  •  Mistral-7B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4655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94176"/>
            <a:ext cx="11247120" cy="7772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39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4. 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0390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Calm Notification Controller  •  Energy Optimizer  •  Scheduling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315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6B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44568"/>
            <a:ext cx="11247120" cy="777240"/>
          </a:xfrm>
          <a:prstGeom prst="rect">
            <a:avLst/>
          </a:prstGeom>
          <a:solidFill>
            <a:srgbClr val="0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902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5. 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54296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EEE"/>
                </a:solidFill>
                <a:latin typeface="Calibri"/>
              </a:rPr>
              <a:t>InfluxDB (time-series storage)  •  Grafana (dashboards)  •  Node-RED (flows)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6B6B"/>
                </a:solidFill>
                <a:latin typeface="Calibri"/>
              </a:rPr>
              <a:t>All components run locally on Raspberry Pi 5  •  No cloud dependency  •  Privacy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Device Attribute Registry (DAR)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A8D8D8"/>
                </a:solidFill>
                <a:latin typeface="Calibri"/>
              </a:rPr>
              <a:t>The knowledge base — IoT-GPT knows everything about every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Example: Water Heater Entry in 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0" cy="2377440"/>
          </a:xfrm>
          <a:prstGeom prst="rect">
            <a:avLst/>
          </a:prstGeom>
          <a:solidFill>
            <a:srgbClr val="08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{ "device": "water_heater_01",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"power_watts": 2000,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951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"warmup_minutes": 30,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42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"conflicts_with": ["room_heater"],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"preferred_hours": [1, 2, 3, 4, 5],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0FFC0"/>
                </a:solidFill>
                <a:latin typeface="Courier New"/>
              </a:rPr>
              <a:t>  "avoid_peak_hours": true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DAR Attribute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5448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Physical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01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Power draw, voltage, warmup time, temperature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7744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Behavioral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24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Interruptible? Max daily cycles? Run duration?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20040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Relational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47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Conflicts with which devices? Preferred sequence?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02336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Temporal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708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Best hours to run, peak hours to avoid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846320"/>
            <a:ext cx="5029200" cy="713232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  <a:latin typeface="Calibri"/>
              </a:rPr>
              <a:t>Calm-Tech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1937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EE"/>
                </a:solidFill>
                <a:latin typeface="Calibri"/>
              </a:rPr>
              <a:t>Notification color, brightness level, conditions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Multi-Device Coordination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Smart Morning Schedule (Wake at 7:00 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  <a:latin typeface="Calibri"/>
              </a:rPr>
              <a:t>WITHOUT IoT-GPT (all devices ON at 7am — 3,500W surge!)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965960"/>
            <a:ext cx="2743200" cy="411480"/>
          </a:xfrm>
          <a:prstGeom prst="rect">
            <a:avLst/>
          </a:prstGeom>
          <a:solidFill>
            <a:srgbClr val="FF7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20116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Water Heater 2000W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65960"/>
            <a:ext cx="2286000" cy="411480"/>
          </a:xfrm>
          <a:prstGeom prst="rect">
            <a:avLst/>
          </a:prstGeom>
          <a:solidFill>
            <a:srgbClr val="FF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Room Heater 1500W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7:00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6B"/>
                </a:solidFill>
                <a:latin typeface="Calibri"/>
              </a:rPr>
              <a:t>WITH IoT-GPT (staggered, off-peak, 30% savings!)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337560"/>
            <a:ext cx="2560320" cy="411480"/>
          </a:xfrm>
          <a:prstGeom prst="rect">
            <a:avLst/>
          </a:prstGeom>
          <a:solidFill>
            <a:srgbClr val="1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3383280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Room Heater 1500W —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337560"/>
            <a:ext cx="256032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3383280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Water Heater 2000W —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337560"/>
            <a:ext cx="1097280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383280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Lights ON 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6:50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7:00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7:05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666"/>
                </a:solidFill>
                <a:latin typeface="Calibri"/>
              </a:rPr>
              <a:t>7:10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00400"/>
            <a:ext cx="18288" cy="731520"/>
          </a:xfrm>
          <a:prstGeom prst="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3749039" cy="5943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No simultaneous high-power devices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4663440"/>
            <a:ext cx="3749039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Peak hours (6–9 AM) shifted away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663440"/>
            <a:ext cx="3749039" cy="594360"/>
          </a:xfrm>
          <a:prstGeom prst="rect">
            <a:avLst/>
          </a:prstGeom>
          <a:solidFill>
            <a:srgbClr val="2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15–25% energy cost reduction 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Calm Technology — Notifications Done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CCEEEE"/>
                </a:solidFill>
                <a:latin typeface="Calibri"/>
              </a:rPr>
              <a:t>"The most potentially interesting, challenging, and profound change implied by the ubiquitous computing era is a focus on calm."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556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4A261"/>
                </a:solidFill>
                <a:latin typeface="Calibri"/>
              </a:rPr>
              <a:t>— Weiser &amp; Brown, Designing Calm Technology (1995)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2057400"/>
            <a:ext cx="685800" cy="685800"/>
          </a:xfrm>
          <a:prstGeom prst="ellipse">
            <a:avLst/>
          </a:prstGeom>
          <a:solidFill>
            <a:srgbClr val="309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❄  Snow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090CC"/>
                </a:solidFill>
                <a:latin typeface="Calibri"/>
              </a:rPr>
              <a:t>BLUE
Soft Glow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Wear snow boots!</a:t>
            </a:r>
          </a:p>
        </p:txBody>
      </p:sp>
      <p:sp>
        <p:nvSpPr>
          <p:cNvPr id="11" name="Oval 10"/>
          <p:cNvSpPr/>
          <p:nvPr/>
        </p:nvSpPr>
        <p:spPr>
          <a:xfrm>
            <a:off x="3611879" y="2057400"/>
            <a:ext cx="685800" cy="685800"/>
          </a:xfrm>
          <a:prstGeom prst="ellipse">
            <a:avLst/>
          </a:prstGeom>
          <a:solidFill>
            <a:srgbClr val="88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🌫  Poor Air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44AA"/>
                </a:solidFill>
                <a:latin typeface="Calibri"/>
              </a:rPr>
              <a:t>PURPLE
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Keep windows closed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057400"/>
            <a:ext cx="685800" cy="6858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🔴  High CO₂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3333"/>
                </a:solidFill>
                <a:latin typeface="Calibri"/>
              </a:rPr>
              <a:t>RED
Bright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Open window now!</a:t>
            </a:r>
          </a:p>
        </p:txBody>
      </p:sp>
      <p:sp>
        <p:nvSpPr>
          <p:cNvPr id="19" name="Oval 18"/>
          <p:cNvSpPr/>
          <p:nvPr/>
        </p:nvSpPr>
        <p:spPr>
          <a:xfrm>
            <a:off x="8275319" y="2057400"/>
            <a:ext cx="685800" cy="685800"/>
          </a:xfrm>
          <a:prstGeom prst="ellipse">
            <a:avLst/>
          </a:prstGeom>
          <a:solidFill>
            <a:srgbClr val="DD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⚡  Peak Hour Soon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8822"/>
                </a:solidFill>
                <a:latin typeface="Calibri"/>
              </a:rPr>
              <a:t>AMBER
Slow 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Delay high-power use</a:t>
            </a:r>
          </a:p>
        </p:txBody>
      </p:sp>
      <p:sp>
        <p:nvSpPr>
          <p:cNvPr id="23" name="Oval 22"/>
          <p:cNvSpPr/>
          <p:nvPr/>
        </p:nvSpPr>
        <p:spPr>
          <a:xfrm>
            <a:off x="10607040" y="2057400"/>
            <a:ext cx="685800" cy="685800"/>
          </a:xfrm>
          <a:prstGeom prst="ellipse">
            <a:avLst/>
          </a:prstGeom>
          <a:solidFill>
            <a:srgbClr val="22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✅  All 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55"/>
                </a:solidFill>
                <a:latin typeface="Calibri"/>
              </a:rPr>
              <a:t>OFF
(dark)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9776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ACCCC"/>
                </a:solidFill>
                <a:latin typeface="Calibri"/>
              </a:rPr>
              <a:t>No action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CCCC"/>
                </a:solidFill>
                <a:latin typeface="Calibri"/>
              </a:rPr>
              <a:t>The light works at the periphery of attention — you notice it without being interrupted.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11247120" cy="68580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CC"/>
                </a:solidFill>
                <a:latin typeface="Calibri"/>
              </a:rPr>
              <a:t>Experiment 2 will measure: Push notification stress vs. ambient light — using NASA-TLX cognitive load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Setup — Hardware &amp;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Hardware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Raspberry Pi 5 (8GB) — IoT-GPT brain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SONOFF ZigBee 3.0 USB Dongle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2× DHT22 temperature / humidity sensors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Philips Hue or IKEA TRÅDFRI smart bulb (shoe rack)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Smart power meters on all heaters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CAT5e Ethernet to home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Software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Mosquitto — MQTT message broker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Zigbee2MQTT — ZigBee device bridge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InfluxDB 2.x — time-series database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Grafana — real-time dashboards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Python 3.11 — all IoT-GPT logic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Mistral-7B (local) — LLM reasoning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•  Google OR-Tools — constraint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Estimated Cost:  Hardware ≈ $150 CAD  |  Software: FREE (all open-source)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F4A261"/>
                </a:solidFill>
                <a:latin typeface="Calibri"/>
              </a:rPr>
              <a:t>All code available at  github.com/gsleo1976/iot-gpt-research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6 Research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" y="129844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Energy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Compare kWh with/without IoT-GPT. Target: 15–25%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7408" y="129844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Calm vs Push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470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NASA-TLX cognitive load test. Ambient light vs. phone buzz.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39327" y="129844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298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IoT-GPT vs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470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User study: AI scheduling vs. manual control. Error rate &amp; comfort.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372160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749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Load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70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Constraint satisfaction: schedule 5+ devices under 15A circuit limit.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61188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07408" y="372160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749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Snow Alert Field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70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Real-world shoe-rack bulb test over 30 days. Recall accuracy.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611880"/>
            <a:ext cx="3749039" cy="2194560"/>
          </a:xfrm>
          <a:prstGeom prst="rect">
            <a:avLst/>
          </a:prstGeom>
          <a:solidFill>
            <a:srgbClr val="16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39327" y="3721608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749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Scalability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70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EEE"/>
                </a:solidFill>
                <a:latin typeface="Calibri"/>
              </a:rPr>
              <a:t>Scale from 3 to 15 devices. Measure response time &amp; accuracy.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Expected Results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15–25%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energy savings
per household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lower cognitive
load from calm 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90%+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scheduling accuracy
for 3–15 devices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143000"/>
            <a:ext cx="2743200" cy="18288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34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A261"/>
                </a:solidFill>
                <a:latin typeface="Calibri"/>
              </a:rPr>
              <a:t>~$150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total hardware
cost to reproduce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B6B"/>
                </a:solidFill>
                <a:latin typeface="Calibri"/>
              </a:rPr>
              <a:t>Broader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Open-source release — any researcher can replicate the setup for ~$150 CAD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Calm technology framework applicable to hospitals, schools, and offices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Contributes to UN SDG 7 (Affordable Clean Energy) and SDG 11 (Sustainable Cities)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•  Blueprint for edge-AI smart homes without cloud dependency or privacy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DDBB"/>
                </a:solidFill>
                <a:latin typeface="Calibri"/>
              </a:rPr>
              <a:t>Student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You Can Join This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DBB"/>
                </a:solidFill>
                <a:latin typeface="Calibri"/>
              </a:rPr>
              <a:t>Slides 11–15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Calibri"/>
              </a:rPr>
              <a:t>Why Should You Join?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📄  Real Publication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Co-author opportunity on the final research paper submitted to an academic journal or conference.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🛠  Hands-On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Work with Raspberry Pi, Python, MQTT, InfluxDB, ZigBee — skills in high demand in IoT and embedded systems jobs.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0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🎓  Course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Applicable as an independent study or capstone project at most universities.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577840" cy="169164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54864" cy="1691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50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🌱  Meaningful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0740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DCC"/>
                </a:solidFill>
                <a:latin typeface="Calibri"/>
              </a:rPr>
              <a:t>Your work directly contributes to reducing home energy waste and improving quality of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Available Student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Hardware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Set up Raspberry Pi, wire sensors, configure ZigBee devices.
Skills: Basic electronics comfort, following instructions.
Time: 15 hrs/week in month 1–2.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Python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0992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Write IoT-GPT logic: scheduling, MQTT, sensor reading.
Skills: Python basics (variables, loops, functions).
Time: 10 hrs/week ongoing.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Data 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0992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Process InfluxDB data, build Grafana dashboards, run stats.
Skills: CSV/Excel, some Python (pandas is a bonus).
Time: 8 hrs/week month 3–8.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User Study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Design surveys, recruit participants, conduct NASA-TLX tests.
Skills: Communication, basic research methods.
Time: 12 hrs/week month 6–8.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61188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61188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Technical 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Document experiments, maintain the GitHub wiki, write the paper.
Skills: Clear writing, Markdown, GitHub basics.
Time: 6 hrs/week ongoing.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61188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611880"/>
            <a:ext cx="64008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AI/LLM Integrator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78808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Fine-tune Mistral-7B on IoT device data, test reasoning quality.
Skills: Python + some ML familiarity.
Time: 10 hrs/week month 4–9.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Skills You Will 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749039" cy="475488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Calibri"/>
              </a:rPr>
              <a:t>Hardware &amp; Embedded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Raspberry Pi GPIO and Linux command line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ZigBee and MQTT protocols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Sensor wiring (no soldering required!)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Edge computing concepts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749039" cy="475488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Calibri"/>
              </a:rPr>
              <a:t>Software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5661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Python for IoT (paho-mqtt, requests, csv)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Git version control and GitHub collaboration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REST API calls (weather, air quality)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Time-series database queries (InfluxDB/Flux)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749039" cy="475488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Calibri"/>
              </a:rPr>
              <a:t>Data &amp;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5661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Grafana dashboard creation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Experimental design and control groups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Statistical analysis of A/B test results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BDDCC"/>
                </a:solidFill>
                <a:latin typeface="Calibri"/>
              </a:rPr>
              <a:t>•  Writing academic reports and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 experience needed to start — we provide tutorials and a step-by-step beginner guide (included in this repo!)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28016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1
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Read the repo README and Beginner's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Visit: github.com/gsleo1976/iot-gpt-research
Read README.md and the docs/ folder. Run the 10 sample Python programs.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28016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0759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2
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2801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Set up your Raspberry 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Follow the Beginner's Guide step by step. Takes about 1–2 days. Ask questions in the GitHub Discussions tab.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370332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075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3
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Pick a role and introduce yourself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Email gurdev.leo@gmail.com with your background and which role interests you. No formal application — just say hi!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70332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30752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Step 4
Month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D6A4F"/>
                </a:solidFill>
                <a:latin typeface="Calibri"/>
              </a:rPr>
              <a:t>Attend the Saturday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519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Virtual meeting every Saturday 10am–12pm. We pair new members with an experienced researcher for onboarding.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6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5029200" cy="5029200"/>
          </a:xfrm>
          <a:prstGeom prst="ellipse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3657600"/>
            <a:ext cx="3657600" cy="3657600"/>
          </a:xfrm>
          <a:prstGeom prst="ellipse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4A261"/>
                </a:solidFill>
                <a:latin typeface="Calibri"/>
              </a:rPr>
              <a:t>Join the Research!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DDBB"/>
                </a:solidFill>
                <a:latin typeface="Calibri"/>
              </a:rPr>
              <a:t>Help us build smarter, calmer, and more sustainable homes.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8046720" cy="68580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54864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5292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📧 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BB"/>
                </a:solidFill>
                <a:latin typeface="Calibri"/>
              </a:rPr>
              <a:t>gurdev.leo@gmail.com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93591"/>
            <a:ext cx="8046720" cy="68580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93591"/>
            <a:ext cx="54864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🐙 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68503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BB"/>
                </a:solidFill>
                <a:latin typeface="Calibri"/>
              </a:rPr>
              <a:t>github.com/gsleo1976/iot-gpt-research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98264"/>
            <a:ext cx="8046720" cy="685800"/>
          </a:xfrm>
          <a:prstGeom prst="rect">
            <a:avLst/>
          </a:prstGeom>
          <a:solidFill>
            <a:srgbClr val="12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98264"/>
            <a:ext cx="54864" cy="685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62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  <a:latin typeface="Calibri"/>
              </a:rPr>
              <a:t>📅  Weekly 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489703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BB"/>
                </a:solidFill>
                <a:latin typeface="Calibri"/>
              </a:rPr>
              <a:t>Every Saturday 10am–12pm (virtual, link on GitHub)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No experience needed  •  Open to all students  •  Remote participation welcome  •  Free hardware guidance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1672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0000" y="-700000"/>
            <a:ext cx="4800000" cy="480000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00000" y="2500000"/>
            <a:ext cx="3000000" cy="3000000"/>
          </a:xfrm>
          <a:prstGeom prst="ellipse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50000"/>
            <a:ext cx="60000" cy="38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000"/>
            <a:ext cx="11423192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4A261"/>
                </a:solidFill>
                <a:latin typeface="Calibri"/>
              </a:rPr>
              <a:t>15 Real-World Use Cases  |  IoT-GPT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8952" y="6508000"/>
            <a:ext cx="600000" cy="2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80C0C0"/>
                </a:solidFill>
                <a:latin typeface="Calibri"/>
              </a:rPr>
              <a:t>16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6223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6223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Snow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40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Shoe-rack bulb glows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blue when snow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is forecast tonight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5806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9149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9149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6766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Load Staggering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6766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Stops room heater +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water heater running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at the same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8732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2075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2075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9692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Off-Peak Shifting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9692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Moves heavy devices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to cheap-rate hours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(11 pm – 6 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1658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5001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5001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2618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Guest Arrival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2618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Home warms &amp; lights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adjust 30 min before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guests arrive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4584" y="68580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07927" y="762000"/>
            <a:ext cx="304800" cy="304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7927" y="7620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5544" y="112680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Air Quality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5544" y="135680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Auto-opens windows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when outdoor AQI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is cleaner than indoor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6223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6223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840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Sunrise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840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Lights fade in gently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at local sunrise;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blinds raise at dusk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5806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59149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59149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6766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Pre-Scheduled Water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6766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Hot water ready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5 min before your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usual shower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48732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2075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2075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9692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Renewable Signal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9692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Living room pulses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green when the grid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runs on clean energy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1658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25001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5001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92618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Climate Balance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92618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Coordinates heating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across rooms to avoid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cold spots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14584" y="272288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07927" y="2799080"/>
            <a:ext cx="304800" cy="3048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07927" y="279908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75544" y="316388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Fault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75544" y="339388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Amber glow when a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device shows unusual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power behaviour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76223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6223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3840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Sleep Mode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3840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All standby devices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power down quietly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at your bedtime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5806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59149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59149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26766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Budget Tracking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26766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Monitors daily spend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vs. energy budget;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shows calm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48732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42075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2075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09692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Device Discovery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09692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Auto-detects new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IoT devices added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to the home network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31658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25001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5001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92618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Carbon Monitor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2618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Tracks household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CO₂e daily and shows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 weekly trend chart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14584" y="4759960"/>
            <a:ext cx="2291486" cy="1945640"/>
          </a:xfrm>
          <a:prstGeom prst="roundRect">
            <a:avLst>
              <a:gd name="adj" fmla="val 3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707927" y="4836160"/>
            <a:ext cx="304800" cy="3048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07927" y="483616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75544" y="5200960"/>
            <a:ext cx="2169566" cy="2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Morning Routine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75544" y="5430960"/>
            <a:ext cx="2169566" cy="1213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Orchestrated wake-up: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heater, kettle &amp; lights</a:t>
            </a:r>
          </a:p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all coordinated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0000" y="-700000"/>
            <a:ext cx="4800000" cy="480000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00000" y="2500000"/>
            <a:ext cx="3000000" cy="3000000"/>
          </a:xfrm>
          <a:prstGeom prst="ellipse">
            <a:avLst/>
          </a:prstGeom>
          <a:solidFill>
            <a:srgbClr val="0A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00000"/>
            <a:ext cx="55000" cy="40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880" y="90000"/>
            <a:ext cx="11323192" cy="5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4A261"/>
                </a:solidFill>
                <a:latin typeface="Calibri"/>
              </a:rPr>
              <a:t>Student Contribution Roadmap  |  How to Join the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8952" y="6498000"/>
            <a:ext cx="60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CCEEEE"/>
                </a:solidFill>
                <a:latin typeface="Calibri"/>
              </a:rPr>
              <a:t>17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670000"/>
            <a:ext cx="5861596" cy="2979000"/>
          </a:xfrm>
          <a:prstGeom prst="roundRect">
            <a:avLst>
              <a:gd name="adj" fmla="val 2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880" y="730000"/>
            <a:ext cx="50000" cy="28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2880" y="730000"/>
            <a:ext cx="280000" cy="2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880" y="790000"/>
            <a:ext cx="5521596" cy="2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880" y="780000"/>
            <a:ext cx="5381596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Hardware Kit</a:t>
            </a:r>
          </a:p>
        </p:txBody>
      </p:sp>
      <p:sp>
        <p:nvSpPr>
          <p:cNvPr id="12" name="Oval 11"/>
          <p:cNvSpPr/>
          <p:nvPr/>
        </p:nvSpPr>
        <p:spPr>
          <a:xfrm>
            <a:off x="262880" y="1209083"/>
            <a:ext cx="80000" cy="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880" y="1030000"/>
            <a:ext cx="5491596" cy="4381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Raspberry Pi 5 (4 GB)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4476" y="1159083"/>
            <a:ext cx="210000" cy="180000"/>
          </a:xfrm>
          <a:prstGeom prst="roundRect">
            <a:avLst>
              <a:gd name="adj" fmla="val 50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4476" y="1159083"/>
            <a:ext cx="21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~£55</a:t>
            </a:r>
          </a:p>
        </p:txBody>
      </p:sp>
      <p:sp>
        <p:nvSpPr>
          <p:cNvPr id="16" name="Oval 15"/>
          <p:cNvSpPr/>
          <p:nvPr/>
        </p:nvSpPr>
        <p:spPr>
          <a:xfrm>
            <a:off x="262880" y="1647249"/>
            <a:ext cx="80000" cy="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880" y="1468166"/>
            <a:ext cx="5491596" cy="4381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DHT22 Temp/Humidity Sensor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4476" y="1597249"/>
            <a:ext cx="210000" cy="180000"/>
          </a:xfrm>
          <a:prstGeom prst="roundRect">
            <a:avLst>
              <a:gd name="adj" fmla="val 50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4476" y="1597249"/>
            <a:ext cx="21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~£5</a:t>
            </a:r>
          </a:p>
        </p:txBody>
      </p:sp>
      <p:sp>
        <p:nvSpPr>
          <p:cNvPr id="20" name="Oval 19"/>
          <p:cNvSpPr/>
          <p:nvPr/>
        </p:nvSpPr>
        <p:spPr>
          <a:xfrm>
            <a:off x="262880" y="2085415"/>
            <a:ext cx="80000" cy="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880" y="1906332"/>
            <a:ext cx="5491596" cy="4381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SONOFF ZigBee USB Dongle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4476" y="2035415"/>
            <a:ext cx="210000" cy="180000"/>
          </a:xfrm>
          <a:prstGeom prst="roundRect">
            <a:avLst>
              <a:gd name="adj" fmla="val 50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4476" y="2035415"/>
            <a:ext cx="21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~£15</a:t>
            </a:r>
          </a:p>
        </p:txBody>
      </p:sp>
      <p:sp>
        <p:nvSpPr>
          <p:cNvPr id="24" name="Oval 23"/>
          <p:cNvSpPr/>
          <p:nvPr/>
        </p:nvSpPr>
        <p:spPr>
          <a:xfrm>
            <a:off x="262880" y="2523581"/>
            <a:ext cx="80000" cy="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880" y="2344498"/>
            <a:ext cx="5491596" cy="4381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IKEA TRADFRI Colour Bulb (E27)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4476" y="2473581"/>
            <a:ext cx="210000" cy="180000"/>
          </a:xfrm>
          <a:prstGeom prst="roundRect">
            <a:avLst>
              <a:gd name="adj" fmla="val 50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4476" y="2473581"/>
            <a:ext cx="21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~£15</a:t>
            </a:r>
          </a:p>
        </p:txBody>
      </p:sp>
      <p:sp>
        <p:nvSpPr>
          <p:cNvPr id="28" name="Oval 27"/>
          <p:cNvSpPr/>
          <p:nvPr/>
        </p:nvSpPr>
        <p:spPr>
          <a:xfrm>
            <a:off x="262880" y="2961747"/>
            <a:ext cx="80000" cy="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880" y="2782664"/>
            <a:ext cx="5491596" cy="4381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Smart Plug with Energy Meter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4476" y="2911747"/>
            <a:ext cx="210000" cy="180000"/>
          </a:xfrm>
          <a:prstGeom prst="roundRect">
            <a:avLst>
              <a:gd name="adj" fmla="val 50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4476" y="2911747"/>
            <a:ext cx="21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~£15</a:t>
            </a:r>
          </a:p>
        </p:txBody>
      </p:sp>
      <p:sp>
        <p:nvSpPr>
          <p:cNvPr id="32" name="Oval 31"/>
          <p:cNvSpPr/>
          <p:nvPr/>
        </p:nvSpPr>
        <p:spPr>
          <a:xfrm>
            <a:off x="262880" y="3399913"/>
            <a:ext cx="80000" cy="8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2880" y="3220830"/>
            <a:ext cx="5491596" cy="4381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Breadboard + Jumper Wires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4476" y="3349913"/>
            <a:ext cx="210000" cy="180000"/>
          </a:xfrm>
          <a:prstGeom prst="roundRect">
            <a:avLst>
              <a:gd name="adj" fmla="val 50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4476" y="3349913"/>
            <a:ext cx="21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~£5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80" y="3504000"/>
            <a:ext cx="5701596" cy="1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A261"/>
                </a:solidFill>
                <a:latin typeface="Calibri"/>
              </a:rPr>
              <a:t>Total starter budget:  ~£50  |  Full kit:  ~£148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476" y="670000"/>
            <a:ext cx="5861596" cy="2979000"/>
          </a:xfrm>
          <a:prstGeom prst="roundRect">
            <a:avLst>
              <a:gd name="adj" fmla="val 2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4476" y="730000"/>
            <a:ext cx="50000" cy="28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04476" y="730000"/>
            <a:ext cx="280000" cy="2800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4476" y="790000"/>
            <a:ext cx="5521596" cy="2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4476" y="780000"/>
            <a:ext cx="5381596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First Project  —  Weather → Light Signal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24476" y="1040000"/>
            <a:ext cx="1887198" cy="2449000"/>
          </a:xfrm>
          <a:prstGeom prst="roundRect">
            <a:avLst>
              <a:gd name="adj" fmla="val 20000"/>
            </a:avLst>
          </a:prstGeom>
          <a:solidFill>
            <a:srgbClr val="125555"/>
          </a:solidFill>
          <a:ln w="180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4476" y="1090000"/>
            <a:ext cx="1887198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Calibri"/>
              </a:rPr>
              <a:t>Weather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4476" y="1290000"/>
            <a:ext cx="1887198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76" y="226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open-meteo.com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76" y="245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free, no key</a:t>
            </a:r>
          </a:p>
        </p:txBody>
      </p:sp>
      <p:sp>
        <p:nvSpPr>
          <p:cNvPr id="47" name="Can 46"/>
          <p:cNvSpPr/>
          <p:nvPr/>
        </p:nvSpPr>
        <p:spPr>
          <a:xfrm>
            <a:off x="8126674" y="2204500"/>
            <a:ext cx="120000" cy="120000"/>
          </a:xfrm>
          <a:prstGeom prst="ca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01674" y="1040000"/>
            <a:ext cx="1887198" cy="2449000"/>
          </a:xfrm>
          <a:prstGeom prst="roundRect">
            <a:avLst>
              <a:gd name="adj" fmla="val 20000"/>
            </a:avLst>
          </a:prstGeom>
          <a:solidFill>
            <a:srgbClr val="125555"/>
          </a:solidFill>
          <a:ln w="180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1674" y="1090000"/>
            <a:ext cx="1887198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Calibri"/>
              </a:rPr>
              <a:t>IoT-GPT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1674" y="1290000"/>
            <a:ext cx="1887198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31674" y="226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Snow? → Blue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1674" y="245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Rain? → Cool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1674" y="264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Sun? → Warm</a:t>
            </a:r>
          </a:p>
        </p:txBody>
      </p:sp>
      <p:sp>
        <p:nvSpPr>
          <p:cNvPr id="54" name="Can 53"/>
          <p:cNvSpPr/>
          <p:nvPr/>
        </p:nvSpPr>
        <p:spPr>
          <a:xfrm>
            <a:off x="10103872" y="2204500"/>
            <a:ext cx="120000" cy="120000"/>
          </a:xfrm>
          <a:prstGeom prst="ca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78872" y="1040000"/>
            <a:ext cx="1887198" cy="2449000"/>
          </a:xfrm>
          <a:prstGeom prst="roundRect">
            <a:avLst>
              <a:gd name="adj" fmla="val 20000"/>
            </a:avLst>
          </a:prstGeom>
          <a:solidFill>
            <a:srgbClr val="125555"/>
          </a:solidFill>
          <a:ln w="180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78872" y="1090000"/>
            <a:ext cx="1887198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CAE4"/>
                </a:solidFill>
                <a:latin typeface="Calibri"/>
              </a:rPr>
              <a:t>Smart Bulb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78872" y="1290000"/>
            <a:ext cx="1887198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08872" y="226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Ambient signal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08872" y="245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no notification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08872" y="2644500"/>
            <a:ext cx="1827198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CEEEE"/>
                </a:solidFill>
                <a:latin typeface="Calibri"/>
              </a:rPr>
              <a:t>no buzz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24476" y="3504000"/>
            <a:ext cx="5701596" cy="1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A261"/>
                </a:solidFill>
                <a:latin typeface="Calibri"/>
              </a:rPr>
              <a:t>Runs 24/7 on Raspberry Pi  •  No phone needed  •  Built in Week 4–5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749000"/>
            <a:ext cx="5861596" cy="2979000"/>
          </a:xfrm>
          <a:prstGeom prst="roundRect">
            <a:avLst>
              <a:gd name="adj" fmla="val 2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42880" y="3809000"/>
            <a:ext cx="50000" cy="2800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42880" y="3809000"/>
            <a:ext cx="280000" cy="2800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2880" y="3869000"/>
            <a:ext cx="5521596" cy="2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2880" y="3859000"/>
            <a:ext cx="5381596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12-Week Learning Roadmap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880" y="4119000"/>
            <a:ext cx="30000" cy="2549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32880" y="4313875"/>
            <a:ext cx="260000" cy="26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2880" y="4293875"/>
            <a:ext cx="230000" cy="1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F4A261"/>
                </a:solidFill>
                <a:latin typeface="Calibri"/>
              </a:rPr>
              <a:t>Weeks 1–3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2880" y="4353875"/>
            <a:ext cx="5431596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Foundations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880" y="4523875"/>
            <a:ext cx="5431596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Python  •  Raspberry Pi  •  Sensors  •  MQTT</a:t>
            </a:r>
          </a:p>
        </p:txBody>
      </p:sp>
      <p:sp>
        <p:nvSpPr>
          <p:cNvPr id="72" name="Oval 71"/>
          <p:cNvSpPr/>
          <p:nvPr/>
        </p:nvSpPr>
        <p:spPr>
          <a:xfrm>
            <a:off x="232880" y="4963625"/>
            <a:ext cx="260000" cy="2600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2880" y="4943625"/>
            <a:ext cx="230000" cy="1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2EC4B6"/>
                </a:solidFill>
                <a:latin typeface="Calibri"/>
              </a:rPr>
              <a:t>Weeks 4–6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2880" y="5003625"/>
            <a:ext cx="5431596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Calibri"/>
              </a:rPr>
              <a:t>IoT Devices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2880" y="5173625"/>
            <a:ext cx="5431596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ZigBee  •  Smart Bulbs  •  APIs  •  Grafana</a:t>
            </a:r>
          </a:p>
        </p:txBody>
      </p:sp>
      <p:sp>
        <p:nvSpPr>
          <p:cNvPr id="76" name="Oval 75"/>
          <p:cNvSpPr/>
          <p:nvPr/>
        </p:nvSpPr>
        <p:spPr>
          <a:xfrm>
            <a:off x="232880" y="5613375"/>
            <a:ext cx="260000" cy="2600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2880" y="5593375"/>
            <a:ext cx="230000" cy="1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48CAE4"/>
                </a:solidFill>
                <a:latin typeface="Calibri"/>
              </a:rPr>
              <a:t>Weeks 7–9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2880" y="5653375"/>
            <a:ext cx="5431596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48CAE4"/>
                </a:solidFill>
                <a:latin typeface="Calibri"/>
              </a:rPr>
              <a:t>System Build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2880" y="5823375"/>
            <a:ext cx="5431596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Device Registry  •  Scheduler  •  MQTT Brain</a:t>
            </a:r>
          </a:p>
        </p:txBody>
      </p:sp>
      <p:sp>
        <p:nvSpPr>
          <p:cNvPr id="80" name="Oval 79"/>
          <p:cNvSpPr/>
          <p:nvPr/>
        </p:nvSpPr>
        <p:spPr>
          <a:xfrm>
            <a:off x="232880" y="6263125"/>
            <a:ext cx="260000" cy="260000"/>
          </a:xfrm>
          <a:prstGeom prst="ellipse">
            <a:avLst/>
          </a:prstGeom>
          <a:solidFill>
            <a:srgbClr val="84B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2880" y="6243125"/>
            <a:ext cx="230000" cy="1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84B59F"/>
                </a:solidFill>
                <a:latin typeface="Calibri"/>
              </a:rPr>
              <a:t>Weeks 10–12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2880" y="6303125"/>
            <a:ext cx="5431596" cy="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4B59F"/>
                </a:solidFill>
                <a:latin typeface="Calibri"/>
              </a:rPr>
              <a:t>Contribute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2880" y="6473125"/>
            <a:ext cx="5431596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Experiments  •  GitHub PR  •  Research Report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44476" y="3749000"/>
            <a:ext cx="5861596" cy="2979000"/>
          </a:xfrm>
          <a:prstGeom prst="roundRect">
            <a:avLst>
              <a:gd name="adj" fmla="val 20000"/>
            </a:avLst>
          </a:prstGeom>
          <a:solidFill>
            <a:srgbClr val="0A4A4A"/>
          </a:solidFill>
          <a:ln w="9144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04476" y="3809000"/>
            <a:ext cx="50000" cy="280000"/>
          </a:xfrm>
          <a:prstGeom prst="rect">
            <a:avLst/>
          </a:prstGeom>
          <a:solidFill>
            <a:srgbClr val="84B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204476" y="3809000"/>
            <a:ext cx="280000" cy="280000"/>
          </a:xfrm>
          <a:prstGeom prst="ellipse">
            <a:avLst/>
          </a:prstGeom>
          <a:solidFill>
            <a:srgbClr val="84B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14476" y="3869000"/>
            <a:ext cx="5521596" cy="2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54476" y="3859000"/>
            <a:ext cx="5381596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 Research Experiments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24476" y="42999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24476" y="4299900"/>
            <a:ext cx="160000" cy="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24476" y="4139000"/>
            <a:ext cx="5491596" cy="260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Weather Signal Light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24476" y="4379900"/>
            <a:ext cx="5491596" cy="240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Run 7 days  •  Log forecast vs actual accuracy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24476" y="4615800"/>
            <a:ext cx="5701596" cy="1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24476" y="48217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24476" y="4821700"/>
            <a:ext cx="160000" cy="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24476" y="4660800"/>
            <a:ext cx="5491596" cy="260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Simultaneous Load Logger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24476" y="4901700"/>
            <a:ext cx="5491596" cy="240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Measure peak demand: simultaneous vs staggered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24476" y="5137600"/>
            <a:ext cx="5701596" cy="1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24476" y="53435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24476" y="5343500"/>
            <a:ext cx="160000" cy="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24476" y="5182600"/>
            <a:ext cx="5491596" cy="260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Multi-Sensor MQTT Network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24476" y="5423500"/>
            <a:ext cx="5491596" cy="240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2-node network  •  Latency under 500 ms target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24476" y="5659400"/>
            <a:ext cx="5701596" cy="1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24476" y="58653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24476" y="5865300"/>
            <a:ext cx="160000" cy="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24476" y="5704400"/>
            <a:ext cx="5491596" cy="260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Off-Peak Scheduler Validation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24476" y="5945300"/>
            <a:ext cx="5491596" cy="240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Calculate real £ savings vs naive scheduling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24476" y="6181200"/>
            <a:ext cx="5701596" cy="1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24476" y="63871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24476" y="6387100"/>
            <a:ext cx="160000" cy="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24476" y="6226200"/>
            <a:ext cx="5491596" cy="260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Full IoT-GPT Mini Demo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24476" y="6467100"/>
            <a:ext cx="5491596" cy="240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CCEEEE"/>
                </a:solidFill>
                <a:latin typeface="Calibri"/>
              </a:rPr>
              <a:t>24 h autonomous operation  •  Decision log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